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5CD"/>
    <a:srgbClr val="FCDCBF"/>
    <a:srgbClr val="BFE7FF"/>
    <a:srgbClr val="FFCFE7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5" d="100"/>
          <a:sy n="25" d="100"/>
        </p:scale>
        <p:origin x="1868" y="-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3"/>
            </a:lvl1pPr>
            <a:lvl2pPr marL="823285" indent="0" algn="ctr">
              <a:buNone/>
              <a:defRPr sz="3602"/>
            </a:lvl2pPr>
            <a:lvl3pPr marL="1646571" indent="0" algn="ctr">
              <a:buNone/>
              <a:defRPr sz="3241"/>
            </a:lvl3pPr>
            <a:lvl4pPr marL="2469856" indent="0" algn="ctr">
              <a:buNone/>
              <a:defRPr sz="2880"/>
            </a:lvl4pPr>
            <a:lvl5pPr marL="3293142" indent="0" algn="ctr">
              <a:buNone/>
              <a:defRPr sz="2880"/>
            </a:lvl5pPr>
            <a:lvl6pPr marL="4116427" indent="0" algn="ctr">
              <a:buNone/>
              <a:defRPr sz="2880"/>
            </a:lvl6pPr>
            <a:lvl7pPr marL="4939713" indent="0" algn="ctr">
              <a:buNone/>
              <a:defRPr sz="2880"/>
            </a:lvl7pPr>
            <a:lvl8pPr marL="5762993" indent="0" algn="ctr">
              <a:buNone/>
              <a:defRPr sz="2880"/>
            </a:lvl8pPr>
            <a:lvl9pPr marL="6586284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3">
                <a:solidFill>
                  <a:schemeClr val="tx1"/>
                </a:solidFill>
              </a:defRPr>
            </a:lvl1pPr>
            <a:lvl2pPr marL="823285" indent="0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marL="1646571" indent="0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marL="2469856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42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427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71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299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84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0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7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1"/>
            </a:lvl1pPr>
            <a:lvl2pPr marL="823285" indent="0">
              <a:buNone/>
              <a:defRPr sz="5039"/>
            </a:lvl2pPr>
            <a:lvl3pPr marL="1646571" indent="0">
              <a:buNone/>
              <a:defRPr sz="4323"/>
            </a:lvl3pPr>
            <a:lvl4pPr marL="2469856" indent="0">
              <a:buNone/>
              <a:defRPr sz="3602"/>
            </a:lvl4pPr>
            <a:lvl5pPr marL="3293142" indent="0">
              <a:buNone/>
              <a:defRPr sz="3602"/>
            </a:lvl5pPr>
            <a:lvl6pPr marL="4116427" indent="0">
              <a:buNone/>
              <a:defRPr sz="3602"/>
            </a:lvl6pPr>
            <a:lvl7pPr marL="4939713" indent="0">
              <a:buNone/>
              <a:defRPr sz="3602"/>
            </a:lvl7pPr>
            <a:lvl8pPr marL="5762993" indent="0">
              <a:buNone/>
              <a:defRPr sz="3602"/>
            </a:lvl8pPr>
            <a:lvl9pPr marL="6586284" indent="0">
              <a:buNone/>
              <a:defRPr sz="3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6571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645" indent="-411645" algn="l" defTabSz="1646571" rtl="0" eaLnBrk="1" latinLnBrk="0" hangingPunct="1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marL="1234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05821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marL="288150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70478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52807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535135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617463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997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823285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marL="1646571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marL="2469856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293142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116427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493971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576299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586284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F757CC-C832-3EB9-8642-C2DADE82A7D6}"/>
              </a:ext>
            </a:extLst>
          </p:cNvPr>
          <p:cNvSpPr/>
          <p:nvPr/>
        </p:nvSpPr>
        <p:spPr>
          <a:xfrm>
            <a:off x="-1" y="1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5" y="3527768"/>
            <a:ext cx="16459203" cy="6292277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E37FD5-5EF1-EDB2-8DF3-A5AA932536BE}"/>
              </a:ext>
            </a:extLst>
          </p:cNvPr>
          <p:cNvSpPr/>
          <p:nvPr/>
        </p:nvSpPr>
        <p:spPr>
          <a:xfrm>
            <a:off x="-2" y="9835285"/>
            <a:ext cx="16459203" cy="6076719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21296-65E9-56EE-2F9B-01E9D7D98AE3}"/>
              </a:ext>
            </a:extLst>
          </p:cNvPr>
          <p:cNvSpPr/>
          <p:nvPr/>
        </p:nvSpPr>
        <p:spPr>
          <a:xfrm>
            <a:off x="-2" y="15891677"/>
            <a:ext cx="16459203" cy="6282125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C73F69-4CF5-AB24-E8A8-73DEEF223A8F}"/>
              </a:ext>
            </a:extLst>
          </p:cNvPr>
          <p:cNvSpPr/>
          <p:nvPr/>
        </p:nvSpPr>
        <p:spPr>
          <a:xfrm>
            <a:off x="-2" y="22179493"/>
            <a:ext cx="16459203" cy="6354475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B6150E-B6D9-0477-CF16-6A98BF9C825F}"/>
              </a:ext>
            </a:extLst>
          </p:cNvPr>
          <p:cNvSpPr/>
          <p:nvPr/>
        </p:nvSpPr>
        <p:spPr>
          <a:xfrm>
            <a:off x="-2" y="28533969"/>
            <a:ext cx="16459203" cy="4384428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19" name="Rectangle 18"/>
          <p:cNvSpPr/>
          <p:nvPr/>
        </p:nvSpPr>
        <p:spPr>
          <a:xfrm>
            <a:off x="187036" y="3691196"/>
            <a:ext cx="3261014" cy="474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-2" y="2698062"/>
            <a:ext cx="16459203" cy="87542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22" name="Rectangle 21"/>
          <p:cNvSpPr/>
          <p:nvPr/>
        </p:nvSpPr>
        <p:spPr>
          <a:xfrm>
            <a:off x="187042" y="16110208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042" y="22386831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7042" y="28619376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374075" y="2799752"/>
            <a:ext cx="15505042" cy="646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1200"/>
              </a:spcBef>
              <a:buNone/>
            </a:pPr>
            <a:r>
              <a:rPr lang="en-US" sz="36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–Public Works Department’s Neighborhood App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047" y="9979922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264817" y="16561538"/>
            <a:ext cx="10349440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App achieved a mean complaint management efficiency score of 91.84 compared to 42.15 for traditional complaint systems, demonstrating an overall efficiency improvement of approximately 117.8% during evaluation. 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tracking and AI-assisted reporting reduced manual complaint handling complexity by nearly 52%, while improving complaint visibility and notification responsiveness across multiple testing scenarios.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Image-based verification improved complaint accuracy and issue identification efficiency by approximately 63% compared to existing methods.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showed greater transparency, quicker complaint access, and having improved efficiency, making the App scalable for smart governance.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243442" y="22906032"/>
            <a:ext cx="16028715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improved civic communication by enabling citizens to report public issues digitally while increasing transparency, complaint visibility, and administrative response efficiency.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Civic Buddy assistance simplified complaint reporting through conversational interaction, helping users identify issue categories accurately while reducing confusion during complaint registration processes.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tracking and notification features enhanced user engagement by continuously updating citizens regarding complaint progress, resolution status, and administrative workflow activities within the application.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Before-and-after proof image verification improved accountability by allowing users to visually confirm completed maintenance activities, increasing trust between citizens, contractors, and municipal authorities effectively.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demonstrated stable performance, user-friendly interaction, and scalable complaint management capabilities, making it suitable for improving smart governance and neighbourhood-level civic issue resolution systems.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328936" y="29227204"/>
            <a:ext cx="15943216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 Developers. 2024. Android Developers Guide for Application Development Using Java and XML Technologies. Google LLC, California.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Kumar, R., and S. Prakash. 2023. “Smart Civic Issue Reporting and Tracking Systems Using Android Mobile Applications for Urban Governance.” International Journal of Smart City Technologies 12 (3): 88–97.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Sharma, P., and K. Reddy. 2022. “AI-Based Civic Complaint Management Systems for Smart Governance and Public Infrastructure Monitoring Applications.” Journal of Urban Computing and Intelligent Systems 9 (2): 45–54.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Patel, H., and M. Varma. 2021. “Real-Time Public Issue Monitoring and Complaint Tracking Using Android-Based Smart City Platforms.” International Journal of Advanced Software Engineering 7 (4): 112–120.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8FB7E5-6242-6C7B-474E-D8347550AE7D}"/>
              </a:ext>
            </a:extLst>
          </p:cNvPr>
          <p:cNvSpPr txBox="1"/>
          <p:nvPr/>
        </p:nvSpPr>
        <p:spPr>
          <a:xfrm>
            <a:off x="243442" y="10373229"/>
            <a:ext cx="15952718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was developed using Android Studio with Java and XML technologies to implement complaint registration, complaint tracking, and civic issue management functionalities.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PHP and MySQL backend system was integrated to manage user authentication, complaint records, image uploads, complaint status updates, and administrative monitoring operations efficiently.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API, GPS location services, and image upload features were incorporated to support accurate issue reporting, location tagging, and complaint verification processes.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and Dialog flow technologies were implemented through Civic Buddy to provide conversational guidance, issue identification, and AI-assisted complaint submission support for users.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was tested using multiple civic issue scenarios including potholes, garbage collection, streetlight failures, waterlogging, and road maintenance complaints to evaluate usability, responsiveness, and workflow efficiency.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03A7FA-9FB5-174D-7054-0EB5C33C7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867399" y="4383978"/>
            <a:ext cx="4461158" cy="397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443" y="290580"/>
            <a:ext cx="15952717" cy="18324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2AA490-4F2E-AC7C-3242-402CB2C428A7}"/>
              </a:ext>
            </a:extLst>
          </p:cNvPr>
          <p:cNvSpPr txBox="1"/>
          <p:nvPr/>
        </p:nvSpPr>
        <p:spPr>
          <a:xfrm>
            <a:off x="9643463" y="1470940"/>
            <a:ext cx="6420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 Name: </a:t>
            </a:r>
            <a: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S. Vishnu Teja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Guide: </a:t>
            </a:r>
            <a: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Dr. Karthik Raj</a:t>
            </a:r>
            <a:b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Reg. No: </a:t>
            </a:r>
            <a: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192224069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297E4-8A21-9110-5B1A-609D6E65E2A9}"/>
              </a:ext>
            </a:extLst>
          </p:cNvPr>
          <p:cNvSpPr txBox="1"/>
          <p:nvPr/>
        </p:nvSpPr>
        <p:spPr>
          <a:xfrm>
            <a:off x="243442" y="4165335"/>
            <a:ext cx="11567551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is a mobile-based civic issue reporting and management system developed to improve communication between citizens and the Public Works Department (PWD).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Civic Buddy provides smart issue identification support, while real-time complaint tracking, status updates, and proof-of-resolution features ensure improved transparency, accountability, and faster departmental responses compared to traditional manual reporting methods.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actively encouraging citizen participation and collaboration, the app strengthens civic engagement, improves communication with the Public Works Department, and contributes to smarter, more responsive, and sustainable urban infrastructure management.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51438-CF05-7163-9A71-120A97F0146D}"/>
              </a:ext>
            </a:extLst>
          </p:cNvPr>
          <p:cNvSpPr txBox="1"/>
          <p:nvPr/>
        </p:nvSpPr>
        <p:spPr>
          <a:xfrm>
            <a:off x="11333148" y="21401988"/>
            <a:ext cx="43542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System Efficiency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1DBF19-6982-1516-8740-55A71689E934}"/>
              </a:ext>
            </a:extLst>
          </p:cNvPr>
          <p:cNvSpPr txBox="1"/>
          <p:nvPr/>
        </p:nvSpPr>
        <p:spPr>
          <a:xfrm>
            <a:off x="11867399" y="8503778"/>
            <a:ext cx="446115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 Smart City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27C4F0A-CB00-3952-90A5-75B0362F4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" r="6321"/>
          <a:stretch>
            <a:fillRect/>
          </a:stretch>
        </p:blipFill>
        <p:spPr>
          <a:xfrm>
            <a:off x="10692032" y="16869886"/>
            <a:ext cx="5636525" cy="442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1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666</TotalTime>
  <Words>677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Sannapureddy, Vishnu Teja (Contractor)</cp:lastModifiedBy>
  <cp:revision>45</cp:revision>
  <dcterms:created xsi:type="dcterms:W3CDTF">2023-04-19T08:35:46Z</dcterms:created>
  <dcterms:modified xsi:type="dcterms:W3CDTF">2026-05-15T07:00:38Z</dcterms:modified>
</cp:coreProperties>
</file>