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1B4FE9-CEB4-4EC9-BD96-6797D73952F3}" v="113" dt="2024-04-17T18:07:48.58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134" autoAdjust="0"/>
    <p:restoredTop sz="94660"/>
  </p:normalViewPr>
  <p:slideViewPr>
    <p:cSldViewPr snapToGrid="0">
      <p:cViewPr>
        <p:scale>
          <a:sx n="50" d="100"/>
          <a:sy n="50" d="100"/>
        </p:scale>
        <p:origin x="1032" y="-6706"/>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18-04-2024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18-04-2024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18-04-2024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18-04-2024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18-04-2024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18-04-2024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18-04-2024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Rot="1" noMove="1" noResize="1" noEditPoints="1" noAdjustHandles="1" noChangeArrowheads="1" noChangeShapeType="1"/>
          </p:cNvSpPr>
          <p:nvPr/>
        </p:nvSpPr>
        <p:spPr>
          <a:xfrm>
            <a:off x="-3530" y="3978186"/>
            <a:ext cx="21603055"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a:spLocks noGrp="1" noRot="1" noMove="1" noResize="1" noEditPoints="1" noAdjustHandles="1" noChangeArrowheads="1" noChangeShapeType="1"/>
          </p:cNvSpPr>
          <p:nvPr/>
        </p:nvSpPr>
        <p:spPr>
          <a:xfrm>
            <a:off x="-6456" y="9964598"/>
            <a:ext cx="21605981" cy="5796133"/>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solidFill>
                <a:schemeClr val="tx1"/>
              </a:solidFill>
            </a:endParaRPr>
          </a:p>
        </p:txBody>
      </p:sp>
      <p:sp>
        <p:nvSpPr>
          <p:cNvPr id="6" name="Rectangle 5"/>
          <p:cNvSpPr>
            <a:spLocks noGrp="1" noRot="1" noMove="1" noResize="1" noEditPoints="1" noAdjustHandles="1" noChangeArrowheads="1" noChangeShapeType="1"/>
          </p:cNvSpPr>
          <p:nvPr/>
        </p:nvSpPr>
        <p:spPr>
          <a:xfrm>
            <a:off x="-6456" y="15741381"/>
            <a:ext cx="21605981" cy="6283988"/>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a:spLocks noGrp="1" noRot="1" noMove="1" noResize="1" noEditPoints="1" noAdjustHandles="1" noChangeArrowheads="1" noChangeShapeType="1"/>
          </p:cNvSpPr>
          <p:nvPr/>
        </p:nvSpPr>
        <p:spPr>
          <a:xfrm>
            <a:off x="-8342" y="21955559"/>
            <a:ext cx="21614322"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a:spLocks noGrp="1" noRot="1" noMove="1" noResize="1" noEditPoints="1" noAdjustHandles="1" noChangeArrowheads="1" noChangeShapeType="1"/>
          </p:cNvSpPr>
          <p:nvPr/>
        </p:nvSpPr>
        <p:spPr>
          <a:xfrm>
            <a:off x="-8342" y="27278743"/>
            <a:ext cx="21614322" cy="5578746"/>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131625" y="4090919"/>
            <a:ext cx="301938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a:spLocks noGrp="1" noRot="1" noMove="1" noResize="1" noEditPoints="1" noAdjustHandles="1" noChangeArrowheads="1" noChangeShapeType="1"/>
          </p:cNvSpPr>
          <p:nvPr/>
        </p:nvSpPr>
        <p:spPr>
          <a:xfrm>
            <a:off x="-3530" y="2485870"/>
            <a:ext cx="216030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131625" y="15923920"/>
            <a:ext cx="180572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55808" y="22197614"/>
            <a:ext cx="5765324"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55808" y="27441289"/>
            <a:ext cx="301938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48719" y="2554293"/>
            <a:ext cx="20898834" cy="1194540"/>
          </a:xfrm>
          <a:prstGeom prst="rect">
            <a:avLst/>
          </a:prstGeom>
          <a:noFill/>
        </p:spPr>
        <p:txBody>
          <a:bodyPr wrap="square" rtlCol="0">
            <a:spAutoFit/>
          </a:bodyPr>
          <a:lstStyle/>
          <a:p>
            <a:pPr algn="ctr"/>
            <a:r>
              <a:rPr lang="en-GB" sz="3583" b="1" dirty="0">
                <a:latin typeface="Times New Roman" panose="02020603050405020304" pitchFamily="18" charset="0"/>
                <a:cs typeface="Times New Roman" panose="02020603050405020304" pitchFamily="18" charset="0"/>
              </a:rPr>
              <a:t>Automation of Pre-Flight and Post-Flight Checklists using Recurrent Neural Networks Compared with </a:t>
            </a:r>
          </a:p>
          <a:p>
            <a:pPr algn="ctr"/>
            <a:r>
              <a:rPr lang="en-GB" sz="3583" b="1" dirty="0">
                <a:latin typeface="Times New Roman" panose="02020603050405020304" pitchFamily="18" charset="0"/>
                <a:cs typeface="Times New Roman" panose="02020603050405020304" pitchFamily="18" charset="0"/>
              </a:rPr>
              <a:t>Q Learning Algorithm for Enhanced Services Efficiency</a:t>
            </a:r>
            <a:endParaRPr lang="en-US" sz="3583" b="1" dirty="0">
              <a:latin typeface="Times New Roman" panose="02020603050405020304" pitchFamily="18" charset="0"/>
              <a:cs typeface="Times New Roman" panose="02020603050405020304" pitchFamily="18" charset="0"/>
            </a:endParaRPr>
          </a:p>
        </p:txBody>
      </p:sp>
      <p:sp>
        <p:nvSpPr>
          <p:cNvPr id="20" name="Rectangle 19"/>
          <p:cNvSpPr/>
          <p:nvPr/>
        </p:nvSpPr>
        <p:spPr>
          <a:xfrm>
            <a:off x="131625" y="10139363"/>
            <a:ext cx="5064314"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1" y="4715541"/>
            <a:ext cx="15639940" cy="5085110"/>
          </a:xfrm>
          <a:prstGeom prst="rect">
            <a:avLst/>
          </a:prstGeom>
          <a:noFill/>
        </p:spPr>
        <p:txBody>
          <a:bodyPr wrap="square" rtlCol="0">
            <a:spAutoFit/>
          </a:bodyPr>
          <a:lstStyle/>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sym typeface="+mn-ea"/>
              </a:rPr>
              <a:t>Contrasting the efficiency of Recurrent Neural Networks (RNNs) and the Q Learning Algorithm in automating Pre-Flight and Post-Flight checklists, responding to the demand for aviation automation.</a:t>
            </a:r>
          </a:p>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sym typeface="+mn-ea"/>
              </a:rPr>
              <a:t>Automating checklists is vital for enhancing safety and operational efficiency in aviation, minimizing errors, and ensuring adherence to procedures, thus improving flight safety.</a:t>
            </a:r>
          </a:p>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sym typeface="+mn-ea"/>
              </a:rPr>
              <a:t>Machine learning algorithms like RNNs and Q Learning have the potential to transform checklist automation, optimizing aviation operations through advanced computational techniques.</a:t>
            </a:r>
          </a:p>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sym typeface="+mn-ea"/>
              </a:rPr>
              <a:t>Key features of RNNs include their ability to capture sequential patterns and temporal dependencies, making them ideal for predictive modelling and sequence processing tasks.</a:t>
            </a:r>
          </a:p>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sym typeface="+mn-ea"/>
              </a:rPr>
              <a:t>The dataset used encompasses a comprehensive range of checklist tasks, capturing various parameters essential for aviation safety and efficiency, enabling thorough analysis and algorithmic performance evaluation.</a:t>
            </a:r>
            <a:endParaRPr lang="en-US" altLang="en-IN" sz="2189"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8341" y="22925578"/>
            <a:ext cx="21436896" cy="4074449"/>
          </a:xfrm>
          <a:prstGeom prst="rect">
            <a:avLst/>
          </a:prstGeom>
          <a:noFill/>
        </p:spPr>
        <p:txBody>
          <a:bodyPr wrap="square" rtlCol="0">
            <a:spAutoFit/>
          </a:bodyPr>
          <a:lstStyle/>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rPr>
              <a:t>The comparison between Recurrent Neural Networks (RNNs) and Q Learning Algorithm in automating aviation checklists highlights RNN's superior accuracy of 88.40% compared to Q Learning's 81.33%, emphasizing its potential for enhancing operational efficiency and safety.</a:t>
            </a:r>
          </a:p>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rPr>
              <a:t>In future, it may explore ensemble approaches, incorporating additional data sources such as flight logs and maintenance records, to further optimize automated checklist systems, addressing limitations and enhancing accuracy in real-world aviation applications.</a:t>
            </a:r>
          </a:p>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rPr>
              <a:t>Despite the focus on datasets and potential variations in algorithm performance, ongoing research endeavors will refine and optimize automated systems to meet the challenges of checklist automation in aviation, ensuring robust performance across diverse operational scenarios. </a:t>
            </a:r>
          </a:p>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rPr>
              <a:t>In conclusion, this emphasizes the promise of machine learning, particularly RNNs, in enhancing aviation operations. RNN's superior accuracy underscores its role in improving safety and efficiency, laying the groundwork for further advancements in automated checklist systems on real-world aviation applications.</a:t>
            </a: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8341" y="27989618"/>
            <a:ext cx="21428720" cy="4579780"/>
          </a:xfrm>
          <a:prstGeom prst="rect">
            <a:avLst/>
          </a:prstGeom>
          <a:noFill/>
        </p:spPr>
        <p:txBody>
          <a:bodyPr wrap="square" rtlCol="0">
            <a:spAutoFit/>
          </a:bodyPr>
          <a:lstStyle/>
          <a:p>
            <a:pPr marL="341254" indent="-341254" algn="just">
              <a:lnSpc>
                <a:spcPct val="150000"/>
              </a:lnSpc>
              <a:buFont typeface="Wingdings" panose="05000000000000000000" pitchFamily="2" charset="2"/>
              <a:buChar char="Ø"/>
            </a:pPr>
            <a:r>
              <a:rPr lang="en-GB" altLang="en-IN" sz="2189" b="1" dirty="0">
                <a:latin typeface="Times New Roman" panose="02020603050405020304" pitchFamily="18" charset="0"/>
                <a:cs typeface="Times New Roman" panose="02020603050405020304" pitchFamily="18" charset="0"/>
              </a:rPr>
              <a:t>Etherington, Timothy J., Lynda J. Kramer, Lisa R. Le Vie, Mary Carolyn Last, Kellie D. Kennedy, Randall E. Bailey, and Vincent Houston, 2021."Impact of advanced synoptics and simplified checklists during aircraft systems failures." In IEEE/AIAA 37th Digital Avionics Systems Conference (DASC), pp. 1-9. IEEE.</a:t>
            </a:r>
          </a:p>
          <a:p>
            <a:pPr marL="341254" indent="-341254" algn="just">
              <a:lnSpc>
                <a:spcPct val="150000"/>
              </a:lnSpc>
              <a:buFont typeface="Wingdings" panose="05000000000000000000" pitchFamily="2" charset="2"/>
              <a:buChar char="Ø"/>
            </a:pPr>
            <a:r>
              <a:rPr lang="en-GB" altLang="en-IN" sz="2189" b="1" dirty="0" err="1">
                <a:latin typeface="Times New Roman" panose="02020603050405020304" pitchFamily="18" charset="0"/>
                <a:cs typeface="Times New Roman" panose="02020603050405020304" pitchFamily="18" charset="0"/>
              </a:rPr>
              <a:t>Battiste</a:t>
            </a:r>
            <a:r>
              <a:rPr lang="en-GB" altLang="en-IN" sz="2189" b="1" dirty="0">
                <a:latin typeface="Times New Roman" panose="02020603050405020304" pitchFamily="18" charset="0"/>
                <a:cs typeface="Times New Roman" panose="02020603050405020304" pitchFamily="18" charset="0"/>
              </a:rPr>
              <a:t>, V., </a:t>
            </a:r>
            <a:r>
              <a:rPr lang="en-GB" altLang="en-IN" sz="2189" b="1" dirty="0" err="1">
                <a:latin typeface="Times New Roman" panose="02020603050405020304" pitchFamily="18" charset="0"/>
                <a:cs typeface="Times New Roman" panose="02020603050405020304" pitchFamily="18" charset="0"/>
              </a:rPr>
              <a:t>Lachter</a:t>
            </a:r>
            <a:r>
              <a:rPr lang="en-GB" altLang="en-IN" sz="2189" b="1" dirty="0">
                <a:latin typeface="Times New Roman" panose="02020603050405020304" pitchFamily="18" charset="0"/>
                <a:cs typeface="Times New Roman" panose="02020603050405020304" pitchFamily="18" charset="0"/>
              </a:rPr>
              <a:t>, J., Brandt, S., Alvarez, A., </a:t>
            </a:r>
            <a:r>
              <a:rPr lang="en-GB" altLang="en-IN" sz="2189" b="1" dirty="0" err="1">
                <a:latin typeface="Times New Roman" panose="02020603050405020304" pitchFamily="18" charset="0"/>
                <a:cs typeface="Times New Roman" panose="02020603050405020304" pitchFamily="18" charset="0"/>
              </a:rPr>
              <a:t>Strybel</a:t>
            </a:r>
            <a:r>
              <a:rPr lang="en-GB" altLang="en-IN" sz="2189" b="1" dirty="0">
                <a:latin typeface="Times New Roman" panose="02020603050405020304" pitchFamily="18" charset="0"/>
                <a:cs typeface="Times New Roman" panose="02020603050405020304" pitchFamily="18" charset="0"/>
              </a:rPr>
              <a:t>, T.Z. and Vu, K.P.L., 2022. “Human-Automation teaming: Lessons learned and future directions”. In Human Interface and the Management of Information. Information in Applications and Services: 20th International Conference, HIMI 2022, Held as Part of HCI International 2022, Las Vegas, NV, USA, July 15-20, Proceedings, Part II 20 (pp. 479-493). Springer International Publishing.</a:t>
            </a:r>
          </a:p>
          <a:p>
            <a:pPr marL="341254" indent="-341254" algn="just">
              <a:lnSpc>
                <a:spcPct val="150000"/>
              </a:lnSpc>
              <a:buFont typeface="Wingdings" panose="05000000000000000000" pitchFamily="2" charset="2"/>
              <a:buChar char="Ø"/>
            </a:pPr>
            <a:r>
              <a:rPr lang="en-GB" altLang="en-IN" sz="2189" b="1" dirty="0" err="1">
                <a:latin typeface="Times New Roman" panose="02020603050405020304" pitchFamily="18" charset="0"/>
                <a:cs typeface="Times New Roman" panose="02020603050405020304" pitchFamily="18" charset="0"/>
              </a:rPr>
              <a:t>Baomar</a:t>
            </a:r>
            <a:r>
              <a:rPr lang="en-GB" altLang="en-IN" sz="2189" b="1" dirty="0">
                <a:latin typeface="Times New Roman" panose="02020603050405020304" pitchFamily="18" charset="0"/>
                <a:cs typeface="Times New Roman" panose="02020603050405020304" pitchFamily="18" charset="0"/>
              </a:rPr>
              <a:t>, Haitham, and Peter J. Bentley, 2021 "Autonomous flight cycles and extreme landings of airliners beyond the current limits and capabilities using artificial neural networks." Applied Intelligence 51, no. 9 : 6349-6375.</a:t>
            </a:r>
          </a:p>
          <a:p>
            <a:pPr marL="341254" indent="-341254" algn="just">
              <a:lnSpc>
                <a:spcPct val="150000"/>
              </a:lnSpc>
              <a:buFont typeface="Wingdings" panose="05000000000000000000" pitchFamily="2" charset="2"/>
              <a:buChar char="Ø"/>
            </a:pPr>
            <a:r>
              <a:rPr lang="en-GB" altLang="en-IN" sz="2189" b="1" dirty="0" err="1">
                <a:latin typeface="Times New Roman" panose="02020603050405020304" pitchFamily="18" charset="0"/>
                <a:cs typeface="Times New Roman" panose="02020603050405020304" pitchFamily="18" charset="0"/>
              </a:rPr>
              <a:t>Burian</a:t>
            </a:r>
            <a:r>
              <a:rPr lang="en-GB" altLang="en-IN" sz="2189" b="1" dirty="0">
                <a:latin typeface="Times New Roman" panose="02020603050405020304" pitchFamily="18" charset="0"/>
                <a:cs typeface="Times New Roman" panose="02020603050405020304" pitchFamily="18" charset="0"/>
              </a:rPr>
              <a:t>, B.K., 2020, October. “Design guidance for emergency and abnormal checklists in aviation”. In Proceedings of the Human Factors and Ergonomics Society Annual Meeting (Vol. 50, No. 1, pp. 106-110). Sage CA: Los Angeles, CA: Sage Publications.</a:t>
            </a:r>
          </a:p>
        </p:txBody>
      </p:sp>
      <p:sp>
        <p:nvSpPr>
          <p:cNvPr id="49" name="Rectangle 48"/>
          <p:cNvSpPr>
            <a:spLocks noGrp="1" noRot="1" noMove="1" noResize="1" noEditPoints="1" noAdjustHandles="1" noChangeArrowheads="1" noChangeShapeType="1"/>
          </p:cNvSpPr>
          <p:nvPr/>
        </p:nvSpPr>
        <p:spPr>
          <a:xfrm>
            <a:off x="-3530" y="-16928"/>
            <a:ext cx="21603055"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859511" y="1408108"/>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S. Vishnu Teja</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192224069</a:t>
            </a:r>
          </a:p>
          <a:p>
            <a:pPr algn="r"/>
            <a:r>
              <a:rPr lang="en-US" sz="2189" b="1" dirty="0">
                <a:solidFill>
                  <a:schemeClr val="bg1"/>
                </a:solidFill>
                <a:latin typeface="Times New Roman" panose="02020603050405020304" pitchFamily="18" charset="0"/>
                <a:cs typeface="Times New Roman" panose="02020603050405020304" pitchFamily="18" charset="0"/>
              </a:rPr>
              <a:t>Guided by Dr. R. </a:t>
            </a:r>
            <a:r>
              <a:rPr lang="en-US" sz="2189" b="1" dirty="0" err="1">
                <a:solidFill>
                  <a:schemeClr val="bg1"/>
                </a:solidFill>
                <a:latin typeface="Times New Roman" panose="02020603050405020304" pitchFamily="18" charset="0"/>
                <a:cs typeface="Times New Roman" panose="02020603050405020304" pitchFamily="18" charset="0"/>
              </a:rPr>
              <a:t>Hemavathi</a:t>
            </a:r>
            <a:r>
              <a:rPr lang="en-US" sz="2189" b="1" dirty="0">
                <a:solidFill>
                  <a:schemeClr val="bg1"/>
                </a:solidFill>
                <a:latin typeface="Times New Roman" panose="02020603050405020304" pitchFamily="18" charset="0"/>
                <a:cs typeface="Times New Roman" panose="02020603050405020304" pitchFamily="18" charset="0"/>
              </a:rPr>
              <a:t> </a:t>
            </a:r>
          </a:p>
        </p:txBody>
      </p:sp>
      <p:sp>
        <p:nvSpPr>
          <p:cNvPr id="51" name="Rectangle 3">
            <a:extLst>
              <a:ext uri="{FF2B5EF4-FFF2-40B4-BE49-F238E27FC236}">
                <a16:creationId xmlns:a16="http://schemas.microsoft.com/office/drawing/2014/main" id="{15106826-3905-0CF4-F090-C480488206E7}"/>
              </a:ext>
            </a:extLst>
          </p:cNvPr>
          <p:cNvSpPr>
            <a:spLocks noChangeArrowheads="1"/>
          </p:cNvSpPr>
          <p:nvPr/>
        </p:nvSpPr>
        <p:spPr bwMode="auto">
          <a:xfrm>
            <a:off x="0" y="0"/>
            <a:ext cx="5838825" cy="0"/>
          </a:xfrm>
          <a:prstGeom prst="rect">
            <a:avLst/>
          </a:prstGeom>
          <a:solidFill>
            <a:srgbClr val="2121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a:ln>
                <a:noFill/>
              </a:ln>
              <a:solidFill>
                <a:schemeClr val="tx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700" b="0" i="0" u="none" strike="noStrike" cap="none" normalizeH="0" baseline="0">
                <a:ln>
                  <a:noFill/>
                </a:ln>
                <a:solidFill>
                  <a:schemeClr val="tx1"/>
                </a:solidFill>
                <a:effectLst/>
                <a:latin typeface="Söhne"/>
              </a:rPr>
              <a:t>The project will utilize real-world aviation data sets comprising pre-flight and post-flight checklist information. These data sets will include a comprehensive range of checklist tasks, parameters, and attributes relevant to aviation operations, allowing for thorough evaluation and comparison of the proposed algorithms.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
            <a:extLst>
              <a:ext uri="{FF2B5EF4-FFF2-40B4-BE49-F238E27FC236}">
                <a16:creationId xmlns:a16="http://schemas.microsoft.com/office/drawing/2014/main" id="{D9257893-A31F-C0C0-4C01-FE6A573D2B16}"/>
              </a:ext>
            </a:extLst>
          </p:cNvPr>
          <p:cNvSpPr>
            <a:spLocks noChangeArrowheads="1"/>
          </p:cNvSpPr>
          <p:nvPr/>
        </p:nvSpPr>
        <p:spPr bwMode="auto">
          <a:xfrm>
            <a:off x="0" y="0"/>
            <a:ext cx="4556125" cy="0"/>
          </a:xfrm>
          <a:prstGeom prst="rect">
            <a:avLst/>
          </a:prstGeom>
          <a:solidFill>
            <a:srgbClr val="2121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7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8" name="Picture 17">
            <a:extLst>
              <a:ext uri="{FF2B5EF4-FFF2-40B4-BE49-F238E27FC236}">
                <a16:creationId xmlns:a16="http://schemas.microsoft.com/office/drawing/2014/main" id="{30DFB5E1-37E1-5C37-CC6C-F2AD9FF780E0}"/>
              </a:ext>
            </a:extLst>
          </p:cNvPr>
          <p:cNvPicPr>
            <a:picLocks noChangeAspect="1"/>
          </p:cNvPicPr>
          <p:nvPr/>
        </p:nvPicPr>
        <p:blipFill rotWithShape="1">
          <a:blip r:embed="rId3">
            <a:extLst>
              <a:ext uri="{28A0092B-C50C-407E-A947-70E740481C1C}">
                <a14:useLocalDpi xmlns:a14="http://schemas.microsoft.com/office/drawing/2010/main" val="0"/>
              </a:ext>
            </a:extLst>
          </a:blip>
          <a:srcRect l="18978" r="18978"/>
          <a:stretch/>
        </p:blipFill>
        <p:spPr>
          <a:xfrm>
            <a:off x="15760415" y="4101790"/>
            <a:ext cx="5659963" cy="5416180"/>
          </a:xfrm>
          <a:prstGeom prst="rect">
            <a:avLst/>
          </a:prstGeom>
        </p:spPr>
      </p:pic>
      <p:pic>
        <p:nvPicPr>
          <p:cNvPr id="1030" name="Picture 6">
            <a:extLst>
              <a:ext uri="{FF2B5EF4-FFF2-40B4-BE49-F238E27FC236}">
                <a16:creationId xmlns:a16="http://schemas.microsoft.com/office/drawing/2014/main" id="{CFB23747-876C-659D-0D27-A7A02DF883DC}"/>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147" y="16456006"/>
            <a:ext cx="6664200" cy="51131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50B0FF7-4938-A41F-8F01-41F2F6AD3873}"/>
              </a:ext>
            </a:extLst>
          </p:cNvPr>
          <p:cNvSpPr txBox="1"/>
          <p:nvPr/>
        </p:nvSpPr>
        <p:spPr>
          <a:xfrm>
            <a:off x="15639940" y="9517970"/>
            <a:ext cx="5727872" cy="429348"/>
          </a:xfrm>
          <a:prstGeom prst="rect">
            <a:avLst/>
          </a:prstGeom>
          <a:noFill/>
        </p:spPr>
        <p:txBody>
          <a:bodyPr wrap="square" rtlCol="0">
            <a:spAutoFit/>
          </a:bodyPr>
          <a:lstStyle/>
          <a:p>
            <a:pPr algn="ctr"/>
            <a:r>
              <a:rPr lang="en-GB" sz="2190" b="1" dirty="0">
                <a:latin typeface="Times New Roman" panose="02020603050405020304" pitchFamily="18" charset="0"/>
                <a:cs typeface="Times New Roman" panose="02020603050405020304" pitchFamily="18" charset="0"/>
              </a:rPr>
              <a:t>Advance Aircraft Control Monitors</a:t>
            </a:r>
            <a:endParaRPr lang="en-IN" sz="2190" b="1"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6EDF219-C759-914B-4266-DA90580E32A3}"/>
              </a:ext>
            </a:extLst>
          </p:cNvPr>
          <p:cNvSpPr/>
          <p:nvPr/>
        </p:nvSpPr>
        <p:spPr>
          <a:xfrm>
            <a:off x="2194560" y="11643360"/>
            <a:ext cx="2468880" cy="87363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High-level Decision Making</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82C9A540-06B2-596A-B951-1C71E3EB2DF3}"/>
              </a:ext>
            </a:extLst>
          </p:cNvPr>
          <p:cNvSpPr/>
          <p:nvPr/>
        </p:nvSpPr>
        <p:spPr>
          <a:xfrm>
            <a:off x="15417466" y="11638564"/>
            <a:ext cx="2468880" cy="87363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Vehicle Dynamics</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1E2CCB7E-4582-49E2-01CE-DC118F1F3EC2}"/>
              </a:ext>
            </a:extLst>
          </p:cNvPr>
          <p:cNvSpPr/>
          <p:nvPr/>
        </p:nvSpPr>
        <p:spPr>
          <a:xfrm>
            <a:off x="11598352" y="11648471"/>
            <a:ext cx="2468880" cy="87363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Flight Control</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20C27B0F-C59F-B07E-5A53-2D085D219632}"/>
              </a:ext>
            </a:extLst>
          </p:cNvPr>
          <p:cNvSpPr/>
          <p:nvPr/>
        </p:nvSpPr>
        <p:spPr>
          <a:xfrm>
            <a:off x="10133142" y="13970090"/>
            <a:ext cx="2468880" cy="103057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Estimator</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C4BE0BCC-0D30-1D5B-4BF0-00BD13853330}"/>
              </a:ext>
            </a:extLst>
          </p:cNvPr>
          <p:cNvSpPr/>
          <p:nvPr/>
        </p:nvSpPr>
        <p:spPr>
          <a:xfrm>
            <a:off x="5818399" y="14057547"/>
            <a:ext cx="2468880" cy="87363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Predicted wind Field</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C3DBE8C7-1945-B364-46FF-006C42001772}"/>
              </a:ext>
            </a:extLst>
          </p:cNvPr>
          <p:cNvSpPr/>
          <p:nvPr/>
        </p:nvSpPr>
        <p:spPr>
          <a:xfrm>
            <a:off x="5931131" y="11643360"/>
            <a:ext cx="2468880" cy="87363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Trajectory Planner</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682B30DB-7E6F-A32A-2693-F855B78BB8F1}"/>
              </a:ext>
            </a:extLst>
          </p:cNvPr>
          <p:cNvSpPr/>
          <p:nvPr/>
        </p:nvSpPr>
        <p:spPr>
          <a:xfrm>
            <a:off x="1438102" y="14044652"/>
            <a:ext cx="2468880" cy="873634"/>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Mission Parameters</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22F33F57-46AB-C91D-F303-6047820C5FB2}"/>
              </a:ext>
            </a:extLst>
          </p:cNvPr>
          <p:cNvSpPr/>
          <p:nvPr/>
        </p:nvSpPr>
        <p:spPr>
          <a:xfrm>
            <a:off x="15417466" y="10123175"/>
            <a:ext cx="2468880" cy="87363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Wind</a:t>
            </a:r>
          </a:p>
          <a:p>
            <a:pPr algn="ctr"/>
            <a:r>
              <a:rPr lang="en-GB" sz="2190" b="1" dirty="0">
                <a:solidFill>
                  <a:schemeClr val="tx1"/>
                </a:solidFill>
                <a:latin typeface="Times New Roman" panose="02020603050405020304" pitchFamily="18" charset="0"/>
                <a:cs typeface="Times New Roman" panose="02020603050405020304" pitchFamily="18" charset="0"/>
              </a:rPr>
              <a:t>(steady  +  gusts)</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049A5621-3FC8-C8BD-F507-9AAB6D9D6411}"/>
              </a:ext>
            </a:extLst>
          </p:cNvPr>
          <p:cNvSpPr/>
          <p:nvPr/>
        </p:nvSpPr>
        <p:spPr>
          <a:xfrm>
            <a:off x="15681724" y="13293352"/>
            <a:ext cx="2468880" cy="390434"/>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GPS</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2079E5F1-297D-CB22-F98C-0BF9034D225D}"/>
              </a:ext>
            </a:extLst>
          </p:cNvPr>
          <p:cNvSpPr/>
          <p:nvPr/>
        </p:nvSpPr>
        <p:spPr>
          <a:xfrm>
            <a:off x="15681724" y="13902611"/>
            <a:ext cx="2468880" cy="390434"/>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IMU</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31" name="Rectangle 30">
            <a:extLst>
              <a:ext uri="{FF2B5EF4-FFF2-40B4-BE49-F238E27FC236}">
                <a16:creationId xmlns:a16="http://schemas.microsoft.com/office/drawing/2014/main" id="{41F5AEDF-641B-C018-11F7-41676D28110C}"/>
              </a:ext>
            </a:extLst>
          </p:cNvPr>
          <p:cNvSpPr/>
          <p:nvPr/>
        </p:nvSpPr>
        <p:spPr>
          <a:xfrm>
            <a:off x="15681724" y="14451243"/>
            <a:ext cx="2468880" cy="390434"/>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Air Data</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99C9BCFB-93D3-C39E-1FF3-8F7FA3155333}"/>
              </a:ext>
            </a:extLst>
          </p:cNvPr>
          <p:cNvSpPr/>
          <p:nvPr/>
        </p:nvSpPr>
        <p:spPr>
          <a:xfrm>
            <a:off x="15681724" y="15027959"/>
            <a:ext cx="2468880" cy="390434"/>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Magnetometer</a:t>
            </a:r>
            <a:endParaRPr lang="en-IN" sz="2190" b="1" dirty="0">
              <a:solidFill>
                <a:schemeClr val="tx1"/>
              </a:solidFill>
              <a:latin typeface="Times New Roman" panose="02020603050405020304" pitchFamily="18" charset="0"/>
              <a:cs typeface="Times New Roman" panose="02020603050405020304" pitchFamily="18" charset="0"/>
            </a:endParaRPr>
          </a:p>
        </p:txBody>
      </p:sp>
      <p:cxnSp>
        <p:nvCxnSpPr>
          <p:cNvPr id="35" name="Straight Arrow Connector 34">
            <a:extLst>
              <a:ext uri="{FF2B5EF4-FFF2-40B4-BE49-F238E27FC236}">
                <a16:creationId xmlns:a16="http://schemas.microsoft.com/office/drawing/2014/main" id="{9ACE809B-242D-AEF4-317F-0CE5E3C03275}"/>
              </a:ext>
            </a:extLst>
          </p:cNvPr>
          <p:cNvCxnSpPr>
            <a:cxnSpLocks/>
            <a:stCxn id="9" idx="3"/>
            <a:endCxn id="21" idx="1"/>
          </p:cNvCxnSpPr>
          <p:nvPr/>
        </p:nvCxnSpPr>
        <p:spPr>
          <a:xfrm>
            <a:off x="4663440" y="12080177"/>
            <a:ext cx="1267691"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C801538-242C-B264-B17E-C790245E8288}"/>
              </a:ext>
            </a:extLst>
          </p:cNvPr>
          <p:cNvCxnSpPr>
            <a:cxnSpLocks/>
          </p:cNvCxnSpPr>
          <p:nvPr/>
        </p:nvCxnSpPr>
        <p:spPr>
          <a:xfrm>
            <a:off x="8400011" y="11897297"/>
            <a:ext cx="3198341" cy="51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0631A8C-B939-A040-7441-7374F74E8135}"/>
              </a:ext>
            </a:extLst>
          </p:cNvPr>
          <p:cNvCxnSpPr>
            <a:cxnSpLocks/>
            <a:stCxn id="12" idx="3"/>
            <a:endCxn id="11" idx="1"/>
          </p:cNvCxnSpPr>
          <p:nvPr/>
        </p:nvCxnSpPr>
        <p:spPr>
          <a:xfrm flipV="1">
            <a:off x="14067232" y="12075381"/>
            <a:ext cx="1350234" cy="990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E8C08684-F4ED-109A-CF42-825B14478601}"/>
              </a:ext>
            </a:extLst>
          </p:cNvPr>
          <p:cNvCxnSpPr>
            <a:cxnSpLocks/>
            <a:stCxn id="27" idx="2"/>
          </p:cNvCxnSpPr>
          <p:nvPr/>
        </p:nvCxnSpPr>
        <p:spPr>
          <a:xfrm>
            <a:off x="16651906" y="10996809"/>
            <a:ext cx="0" cy="65166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7" name="Straight Arrow Connector 1036">
            <a:extLst>
              <a:ext uri="{FF2B5EF4-FFF2-40B4-BE49-F238E27FC236}">
                <a16:creationId xmlns:a16="http://schemas.microsoft.com/office/drawing/2014/main" id="{A118C93D-C96D-8846-4960-BC39E89904D9}"/>
              </a:ext>
            </a:extLst>
          </p:cNvPr>
          <p:cNvCxnSpPr>
            <a:cxnSpLocks/>
            <a:stCxn id="11" idx="3"/>
          </p:cNvCxnSpPr>
          <p:nvPr/>
        </p:nvCxnSpPr>
        <p:spPr>
          <a:xfrm>
            <a:off x="17886346" y="12075381"/>
            <a:ext cx="3361207" cy="2332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4" name="Connector: Elbow 1043">
            <a:extLst>
              <a:ext uri="{FF2B5EF4-FFF2-40B4-BE49-F238E27FC236}">
                <a16:creationId xmlns:a16="http://schemas.microsoft.com/office/drawing/2014/main" id="{57FEDE12-D443-53D6-336D-A24549C26FED}"/>
              </a:ext>
            </a:extLst>
          </p:cNvPr>
          <p:cNvCxnSpPr>
            <a:cxnSpLocks/>
            <a:endCxn id="32" idx="3"/>
          </p:cNvCxnSpPr>
          <p:nvPr/>
        </p:nvCxnSpPr>
        <p:spPr>
          <a:xfrm rot="5400000">
            <a:off x="17483605" y="12742380"/>
            <a:ext cx="3147796" cy="1813797"/>
          </a:xfrm>
          <a:prstGeom prst="bentConnector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6" name="Straight Arrow Connector 1045">
            <a:extLst>
              <a:ext uri="{FF2B5EF4-FFF2-40B4-BE49-F238E27FC236}">
                <a16:creationId xmlns:a16="http://schemas.microsoft.com/office/drawing/2014/main" id="{14F165A5-08B5-532F-8A07-75C648E3D873}"/>
              </a:ext>
            </a:extLst>
          </p:cNvPr>
          <p:cNvCxnSpPr>
            <a:cxnSpLocks/>
            <a:endCxn id="28" idx="3"/>
          </p:cNvCxnSpPr>
          <p:nvPr/>
        </p:nvCxnSpPr>
        <p:spPr>
          <a:xfrm flipH="1" flipV="1">
            <a:off x="18150604" y="13488569"/>
            <a:ext cx="1813798" cy="963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9" name="Straight Arrow Connector 1048">
            <a:extLst>
              <a:ext uri="{FF2B5EF4-FFF2-40B4-BE49-F238E27FC236}">
                <a16:creationId xmlns:a16="http://schemas.microsoft.com/office/drawing/2014/main" id="{2B788E17-D5FA-3203-D921-891D7120469D}"/>
              </a:ext>
            </a:extLst>
          </p:cNvPr>
          <p:cNvCxnSpPr>
            <a:cxnSpLocks/>
            <a:endCxn id="29" idx="3"/>
          </p:cNvCxnSpPr>
          <p:nvPr/>
        </p:nvCxnSpPr>
        <p:spPr>
          <a:xfrm flipH="1" flipV="1">
            <a:off x="18150604" y="14097828"/>
            <a:ext cx="1799633" cy="1053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0" name="Straight Arrow Connector 1049">
            <a:extLst>
              <a:ext uri="{FF2B5EF4-FFF2-40B4-BE49-F238E27FC236}">
                <a16:creationId xmlns:a16="http://schemas.microsoft.com/office/drawing/2014/main" id="{4C7AD548-FB5D-790F-383F-D42DD4E359E1}"/>
              </a:ext>
            </a:extLst>
          </p:cNvPr>
          <p:cNvCxnSpPr>
            <a:cxnSpLocks/>
            <a:endCxn id="31" idx="3"/>
          </p:cNvCxnSpPr>
          <p:nvPr/>
        </p:nvCxnSpPr>
        <p:spPr>
          <a:xfrm flipH="1" flipV="1">
            <a:off x="18150604" y="14646460"/>
            <a:ext cx="1813798" cy="908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3" name="Connector: Elbow 1052">
            <a:extLst>
              <a:ext uri="{FF2B5EF4-FFF2-40B4-BE49-F238E27FC236}">
                <a16:creationId xmlns:a16="http://schemas.microsoft.com/office/drawing/2014/main" id="{952E5A65-4350-57BD-93C0-18C442FE2116}"/>
              </a:ext>
            </a:extLst>
          </p:cNvPr>
          <p:cNvCxnSpPr>
            <a:cxnSpLocks/>
            <a:stCxn id="28" idx="1"/>
          </p:cNvCxnSpPr>
          <p:nvPr/>
        </p:nvCxnSpPr>
        <p:spPr>
          <a:xfrm rot="10800000" flipV="1">
            <a:off x="12602022" y="13488569"/>
            <a:ext cx="3079702" cy="565254"/>
          </a:xfrm>
          <a:prstGeom prst="bentConnector3">
            <a:avLst>
              <a:gd name="adj1" fmla="val 50000"/>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56" name="Connector: Elbow 1055">
            <a:extLst>
              <a:ext uri="{FF2B5EF4-FFF2-40B4-BE49-F238E27FC236}">
                <a16:creationId xmlns:a16="http://schemas.microsoft.com/office/drawing/2014/main" id="{E0F76D23-186F-AC1A-62BA-3ED9236AFDCA}"/>
              </a:ext>
            </a:extLst>
          </p:cNvPr>
          <p:cNvCxnSpPr>
            <a:cxnSpLocks/>
            <a:stCxn id="29" idx="1"/>
          </p:cNvCxnSpPr>
          <p:nvPr/>
        </p:nvCxnSpPr>
        <p:spPr>
          <a:xfrm rot="10800000" flipV="1">
            <a:off x="12602022" y="14097827"/>
            <a:ext cx="3079703" cy="230637"/>
          </a:xfrm>
          <a:prstGeom prst="bentConnector3">
            <a:avLst>
              <a:gd name="adj1" fmla="val 50000"/>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58" name="Connector: Elbow 1057">
            <a:extLst>
              <a:ext uri="{FF2B5EF4-FFF2-40B4-BE49-F238E27FC236}">
                <a16:creationId xmlns:a16="http://schemas.microsoft.com/office/drawing/2014/main" id="{1CC6EC91-6D95-F679-A26B-841B40E045DE}"/>
              </a:ext>
            </a:extLst>
          </p:cNvPr>
          <p:cNvCxnSpPr>
            <a:cxnSpLocks/>
            <a:stCxn id="31" idx="1"/>
          </p:cNvCxnSpPr>
          <p:nvPr/>
        </p:nvCxnSpPr>
        <p:spPr>
          <a:xfrm rot="10800000">
            <a:off x="12602022" y="14604554"/>
            <a:ext cx="3079703" cy="41906"/>
          </a:xfrm>
          <a:prstGeom prst="bentConnector3">
            <a:avLst>
              <a:gd name="adj1" fmla="val 50000"/>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61" name="Connector: Elbow 1060">
            <a:extLst>
              <a:ext uri="{FF2B5EF4-FFF2-40B4-BE49-F238E27FC236}">
                <a16:creationId xmlns:a16="http://schemas.microsoft.com/office/drawing/2014/main" id="{F4C2D4C8-982A-D557-E5F5-D226103F6432}"/>
              </a:ext>
            </a:extLst>
          </p:cNvPr>
          <p:cNvCxnSpPr>
            <a:cxnSpLocks/>
            <a:stCxn id="32" idx="1"/>
          </p:cNvCxnSpPr>
          <p:nvPr/>
        </p:nvCxnSpPr>
        <p:spPr>
          <a:xfrm rot="10800000">
            <a:off x="12602022" y="14897544"/>
            <a:ext cx="3079703" cy="325632"/>
          </a:xfrm>
          <a:prstGeom prst="bentConnector3">
            <a:avLst>
              <a:gd name="adj1" fmla="val 50000"/>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71" name="Straight Arrow Connector 1070">
            <a:extLst>
              <a:ext uri="{FF2B5EF4-FFF2-40B4-BE49-F238E27FC236}">
                <a16:creationId xmlns:a16="http://schemas.microsoft.com/office/drawing/2014/main" id="{7FFC5C1D-719F-04EC-71A1-E9ACD4417850}"/>
              </a:ext>
            </a:extLst>
          </p:cNvPr>
          <p:cNvCxnSpPr>
            <a:cxnSpLocks/>
          </p:cNvCxnSpPr>
          <p:nvPr/>
        </p:nvCxnSpPr>
        <p:spPr>
          <a:xfrm flipH="1">
            <a:off x="8303088" y="14213146"/>
            <a:ext cx="1830054"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6" name="Straight Arrow Connector 1075">
            <a:extLst>
              <a:ext uri="{FF2B5EF4-FFF2-40B4-BE49-F238E27FC236}">
                <a16:creationId xmlns:a16="http://schemas.microsoft.com/office/drawing/2014/main" id="{3CAA21F8-63E7-11AA-CB4D-79A4F547B700}"/>
              </a:ext>
            </a:extLst>
          </p:cNvPr>
          <p:cNvCxnSpPr>
            <a:cxnSpLocks/>
          </p:cNvCxnSpPr>
          <p:nvPr/>
        </p:nvCxnSpPr>
        <p:spPr>
          <a:xfrm flipH="1">
            <a:off x="8303088" y="14731306"/>
            <a:ext cx="1830054"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7" name="Straight Arrow Connector 1076">
            <a:extLst>
              <a:ext uri="{FF2B5EF4-FFF2-40B4-BE49-F238E27FC236}">
                <a16:creationId xmlns:a16="http://schemas.microsoft.com/office/drawing/2014/main" id="{AE4D2710-6FC4-6413-8972-E2F8ED2AC644}"/>
              </a:ext>
            </a:extLst>
          </p:cNvPr>
          <p:cNvCxnSpPr>
            <a:cxnSpLocks/>
            <a:stCxn id="25" idx="0"/>
          </p:cNvCxnSpPr>
          <p:nvPr/>
        </p:nvCxnSpPr>
        <p:spPr>
          <a:xfrm flipV="1">
            <a:off x="2672542" y="12512198"/>
            <a:ext cx="0" cy="153245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4" name="Connector: Elbow 1083">
            <a:extLst>
              <a:ext uri="{FF2B5EF4-FFF2-40B4-BE49-F238E27FC236}">
                <a16:creationId xmlns:a16="http://schemas.microsoft.com/office/drawing/2014/main" id="{E48D32EA-A45C-FAB3-9C18-A24F3B3DC0BE}"/>
              </a:ext>
            </a:extLst>
          </p:cNvPr>
          <p:cNvCxnSpPr>
            <a:cxnSpLocks/>
          </p:cNvCxnSpPr>
          <p:nvPr/>
        </p:nvCxnSpPr>
        <p:spPr>
          <a:xfrm flipV="1">
            <a:off x="9017231" y="12222468"/>
            <a:ext cx="2559438" cy="1979155"/>
          </a:xfrm>
          <a:prstGeom prst="bentConnector3">
            <a:avLst>
              <a:gd name="adj1" fmla="val 4747"/>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9" name="Connector: Elbow 1088">
            <a:extLst>
              <a:ext uri="{FF2B5EF4-FFF2-40B4-BE49-F238E27FC236}">
                <a16:creationId xmlns:a16="http://schemas.microsoft.com/office/drawing/2014/main" id="{1F769F3D-CD15-573D-F75A-11C314B6E7E4}"/>
              </a:ext>
            </a:extLst>
          </p:cNvPr>
          <p:cNvCxnSpPr>
            <a:cxnSpLocks/>
            <a:endCxn id="9" idx="2"/>
          </p:cNvCxnSpPr>
          <p:nvPr/>
        </p:nvCxnSpPr>
        <p:spPr>
          <a:xfrm rot="10800000">
            <a:off x="3429001" y="12516995"/>
            <a:ext cx="5667221" cy="1021229"/>
          </a:xfrm>
          <a:prstGeom prst="bentConnector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4" name="Straight Arrow Connector 1093">
            <a:extLst>
              <a:ext uri="{FF2B5EF4-FFF2-40B4-BE49-F238E27FC236}">
                <a16:creationId xmlns:a16="http://schemas.microsoft.com/office/drawing/2014/main" id="{9E889603-BBCC-B074-11E9-8106D1810933}"/>
              </a:ext>
            </a:extLst>
          </p:cNvPr>
          <p:cNvCxnSpPr>
            <a:cxnSpLocks/>
          </p:cNvCxnSpPr>
          <p:nvPr/>
        </p:nvCxnSpPr>
        <p:spPr>
          <a:xfrm flipV="1">
            <a:off x="6359910" y="12512198"/>
            <a:ext cx="0" cy="154162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6" name="Straight Arrow Connector 1095">
            <a:extLst>
              <a:ext uri="{FF2B5EF4-FFF2-40B4-BE49-F238E27FC236}">
                <a16:creationId xmlns:a16="http://schemas.microsoft.com/office/drawing/2014/main" id="{9C04C569-70DD-29B4-7134-F0F952D1F8AF}"/>
              </a:ext>
            </a:extLst>
          </p:cNvPr>
          <p:cNvCxnSpPr>
            <a:cxnSpLocks/>
          </p:cNvCxnSpPr>
          <p:nvPr/>
        </p:nvCxnSpPr>
        <p:spPr>
          <a:xfrm flipV="1">
            <a:off x="7701030" y="12522105"/>
            <a:ext cx="0" cy="97609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9" name="Connector: Elbow 1098">
            <a:extLst>
              <a:ext uri="{FF2B5EF4-FFF2-40B4-BE49-F238E27FC236}">
                <a16:creationId xmlns:a16="http://schemas.microsoft.com/office/drawing/2014/main" id="{A2EE7397-B13E-F527-4234-4DB621301A0C}"/>
              </a:ext>
            </a:extLst>
          </p:cNvPr>
          <p:cNvCxnSpPr>
            <a:cxnSpLocks/>
          </p:cNvCxnSpPr>
          <p:nvPr/>
        </p:nvCxnSpPr>
        <p:spPr>
          <a:xfrm rot="10800000">
            <a:off x="4048992" y="12561664"/>
            <a:ext cx="2310919" cy="639787"/>
          </a:xfrm>
          <a:prstGeom prst="bentConnector3">
            <a:avLst>
              <a:gd name="adj1" fmla="val 100120"/>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4" name="TextBox 1103">
            <a:extLst>
              <a:ext uri="{FF2B5EF4-FFF2-40B4-BE49-F238E27FC236}">
                <a16:creationId xmlns:a16="http://schemas.microsoft.com/office/drawing/2014/main" id="{DBFD0F4B-B5A3-B4BF-FD06-84366E27F332}"/>
              </a:ext>
            </a:extLst>
          </p:cNvPr>
          <p:cNvSpPr txBox="1"/>
          <p:nvPr/>
        </p:nvSpPr>
        <p:spPr>
          <a:xfrm>
            <a:off x="202667" y="12827040"/>
            <a:ext cx="2289040" cy="766364"/>
          </a:xfrm>
          <a:prstGeom prst="rect">
            <a:avLst/>
          </a:prstGeom>
          <a:noFill/>
        </p:spPr>
        <p:txBody>
          <a:bodyPr wrap="square" rtlCol="0">
            <a:spAutoFit/>
          </a:bodyPr>
          <a:lstStyle/>
          <a:p>
            <a:r>
              <a:rPr lang="en-GB" sz="2190" b="1" dirty="0">
                <a:latin typeface="Times New Roman" panose="02020603050405020304" pitchFamily="18" charset="0"/>
                <a:cs typeface="Times New Roman" panose="02020603050405020304" pitchFamily="18" charset="0"/>
              </a:rPr>
              <a:t>Vehicle State &amp;</a:t>
            </a:r>
          </a:p>
          <a:p>
            <a:r>
              <a:rPr lang="en-GB" sz="2190" b="1" dirty="0">
                <a:latin typeface="Times New Roman" panose="02020603050405020304" pitchFamily="18" charset="0"/>
                <a:cs typeface="Times New Roman" panose="02020603050405020304" pitchFamily="18" charset="0"/>
              </a:rPr>
              <a:t>Field Estimation</a:t>
            </a:r>
            <a:endParaRPr lang="en-IN" sz="2190" b="1" dirty="0">
              <a:latin typeface="Times New Roman" panose="02020603050405020304" pitchFamily="18" charset="0"/>
              <a:cs typeface="Times New Roman" panose="02020603050405020304" pitchFamily="18" charset="0"/>
            </a:endParaRPr>
          </a:p>
        </p:txBody>
      </p:sp>
      <p:sp>
        <p:nvSpPr>
          <p:cNvPr id="1105" name="TextBox 1104">
            <a:extLst>
              <a:ext uri="{FF2B5EF4-FFF2-40B4-BE49-F238E27FC236}">
                <a16:creationId xmlns:a16="http://schemas.microsoft.com/office/drawing/2014/main" id="{2249654D-E255-54CD-ABFD-596FFDD001C2}"/>
              </a:ext>
            </a:extLst>
          </p:cNvPr>
          <p:cNvSpPr txBox="1"/>
          <p:nvPr/>
        </p:nvSpPr>
        <p:spPr>
          <a:xfrm>
            <a:off x="8948705" y="14696369"/>
            <a:ext cx="523010" cy="429348"/>
          </a:xfrm>
          <a:prstGeom prst="rect">
            <a:avLst/>
          </a:prstGeom>
          <a:noFill/>
        </p:spPr>
        <p:txBody>
          <a:bodyPr wrap="square" rtlCol="0">
            <a:spAutoFit/>
          </a:bodyPr>
          <a:lstStyle/>
          <a:p>
            <a:r>
              <a:rPr lang="en-GB" sz="2190" b="1" dirty="0">
                <a:latin typeface="Times New Roman" panose="02020603050405020304" pitchFamily="18" charset="0"/>
                <a:cs typeface="Times New Roman" panose="02020603050405020304" pitchFamily="18" charset="0"/>
              </a:rPr>
              <a:t>w</a:t>
            </a:r>
            <a:endParaRPr lang="en-IN" sz="2190" b="1" dirty="0">
              <a:latin typeface="Times New Roman" panose="02020603050405020304" pitchFamily="18" charset="0"/>
              <a:cs typeface="Times New Roman" panose="02020603050405020304" pitchFamily="18" charset="0"/>
            </a:endParaRPr>
          </a:p>
        </p:txBody>
      </p:sp>
      <p:sp>
        <p:nvSpPr>
          <p:cNvPr id="1106" name="TextBox 1105">
            <a:extLst>
              <a:ext uri="{FF2B5EF4-FFF2-40B4-BE49-F238E27FC236}">
                <a16:creationId xmlns:a16="http://schemas.microsoft.com/office/drawing/2014/main" id="{879CCD19-0B71-81F2-03AD-20F8E8D9BC07}"/>
              </a:ext>
            </a:extLst>
          </p:cNvPr>
          <p:cNvSpPr txBox="1"/>
          <p:nvPr/>
        </p:nvSpPr>
        <p:spPr>
          <a:xfrm>
            <a:off x="2194560" y="11146676"/>
            <a:ext cx="2240835" cy="429348"/>
          </a:xfrm>
          <a:prstGeom prst="rect">
            <a:avLst/>
          </a:prstGeom>
          <a:noFill/>
        </p:spPr>
        <p:txBody>
          <a:bodyPr wrap="square" rtlCol="0">
            <a:spAutoFit/>
          </a:bodyPr>
          <a:lstStyle/>
          <a:p>
            <a:r>
              <a:rPr lang="en-GB" sz="2190" b="1" dirty="0">
                <a:latin typeface="Times New Roman" panose="02020603050405020304" pitchFamily="18" charset="0"/>
                <a:cs typeface="Times New Roman" panose="02020603050405020304" pitchFamily="18" charset="0"/>
              </a:rPr>
              <a:t>Flight director</a:t>
            </a:r>
            <a:endParaRPr lang="en-IN" sz="2190" b="1" dirty="0">
              <a:latin typeface="Times New Roman" panose="02020603050405020304" pitchFamily="18" charset="0"/>
              <a:cs typeface="Times New Roman" panose="02020603050405020304" pitchFamily="18" charset="0"/>
            </a:endParaRPr>
          </a:p>
        </p:txBody>
      </p:sp>
      <p:sp>
        <p:nvSpPr>
          <p:cNvPr id="1107" name="TextBox 1106">
            <a:extLst>
              <a:ext uri="{FF2B5EF4-FFF2-40B4-BE49-F238E27FC236}">
                <a16:creationId xmlns:a16="http://schemas.microsoft.com/office/drawing/2014/main" id="{32073123-880D-A349-1B9B-60193C967652}"/>
              </a:ext>
            </a:extLst>
          </p:cNvPr>
          <p:cNvSpPr txBox="1"/>
          <p:nvPr/>
        </p:nvSpPr>
        <p:spPr>
          <a:xfrm>
            <a:off x="9255938" y="11433797"/>
            <a:ext cx="523010" cy="429348"/>
          </a:xfrm>
          <a:prstGeom prst="rect">
            <a:avLst/>
          </a:prstGeom>
          <a:noFill/>
        </p:spPr>
        <p:txBody>
          <a:bodyPr wrap="square" rtlCol="0">
            <a:spAutoFit/>
          </a:bodyPr>
          <a:lstStyle/>
          <a:p>
            <a:r>
              <a:rPr lang="en-GB" sz="2190" b="1" dirty="0">
                <a:latin typeface="Times New Roman" panose="02020603050405020304" pitchFamily="18" charset="0"/>
                <a:cs typeface="Times New Roman" panose="02020603050405020304" pitchFamily="18" charset="0"/>
              </a:rPr>
              <a:t>u</a:t>
            </a:r>
            <a:endParaRPr lang="en-IN" sz="2190" b="1" dirty="0">
              <a:latin typeface="Times New Roman" panose="02020603050405020304" pitchFamily="18" charset="0"/>
              <a:cs typeface="Times New Roman" panose="02020603050405020304" pitchFamily="18" charset="0"/>
            </a:endParaRPr>
          </a:p>
        </p:txBody>
      </p:sp>
      <p:sp>
        <p:nvSpPr>
          <p:cNvPr id="1108" name="TextBox 1107">
            <a:extLst>
              <a:ext uri="{FF2B5EF4-FFF2-40B4-BE49-F238E27FC236}">
                <a16:creationId xmlns:a16="http://schemas.microsoft.com/office/drawing/2014/main" id="{8BC00766-7972-24C0-4EDA-5C73968F227E}"/>
              </a:ext>
            </a:extLst>
          </p:cNvPr>
          <p:cNvSpPr txBox="1"/>
          <p:nvPr/>
        </p:nvSpPr>
        <p:spPr>
          <a:xfrm>
            <a:off x="14381554" y="11615838"/>
            <a:ext cx="523010" cy="429348"/>
          </a:xfrm>
          <a:prstGeom prst="rect">
            <a:avLst/>
          </a:prstGeom>
          <a:noFill/>
        </p:spPr>
        <p:txBody>
          <a:bodyPr wrap="square" rtlCol="0">
            <a:spAutoFit/>
          </a:bodyPr>
          <a:lstStyle/>
          <a:p>
            <a:r>
              <a:rPr lang="en-GB" sz="2190" b="1" dirty="0">
                <a:latin typeface="Times New Roman" panose="02020603050405020304" pitchFamily="18" charset="0"/>
                <a:cs typeface="Times New Roman" panose="02020603050405020304" pitchFamily="18" charset="0"/>
              </a:rPr>
              <a:t>u</a:t>
            </a:r>
            <a:endParaRPr lang="en-IN" sz="2190" b="1" dirty="0">
              <a:latin typeface="Times New Roman" panose="02020603050405020304" pitchFamily="18" charset="0"/>
              <a:cs typeface="Times New Roman" panose="02020603050405020304" pitchFamily="18" charset="0"/>
            </a:endParaRPr>
          </a:p>
        </p:txBody>
      </p:sp>
      <p:sp>
        <p:nvSpPr>
          <p:cNvPr id="1109" name="TextBox 1108">
            <a:extLst>
              <a:ext uri="{FF2B5EF4-FFF2-40B4-BE49-F238E27FC236}">
                <a16:creationId xmlns:a16="http://schemas.microsoft.com/office/drawing/2014/main" id="{E9645CB3-E2FE-AD6D-4355-BF93D4FF223E}"/>
              </a:ext>
            </a:extLst>
          </p:cNvPr>
          <p:cNvSpPr txBox="1"/>
          <p:nvPr/>
        </p:nvSpPr>
        <p:spPr>
          <a:xfrm>
            <a:off x="19771770" y="11631860"/>
            <a:ext cx="523010" cy="429348"/>
          </a:xfrm>
          <a:prstGeom prst="rect">
            <a:avLst/>
          </a:prstGeom>
          <a:noFill/>
        </p:spPr>
        <p:txBody>
          <a:bodyPr wrap="square" rtlCol="0">
            <a:spAutoFit/>
          </a:bodyPr>
          <a:lstStyle/>
          <a:p>
            <a:r>
              <a:rPr lang="en-GB" sz="2190" b="1" dirty="0">
                <a:latin typeface="Times New Roman" panose="02020603050405020304" pitchFamily="18" charset="0"/>
                <a:cs typeface="Times New Roman" panose="02020603050405020304" pitchFamily="18" charset="0"/>
              </a:rPr>
              <a:t>x</a:t>
            </a:r>
            <a:endParaRPr lang="en-IN" sz="2190" b="1" dirty="0">
              <a:latin typeface="Times New Roman" panose="02020603050405020304" pitchFamily="18" charset="0"/>
              <a:cs typeface="Times New Roman" panose="02020603050405020304" pitchFamily="18" charset="0"/>
            </a:endParaRPr>
          </a:p>
        </p:txBody>
      </p:sp>
      <p:sp>
        <p:nvSpPr>
          <p:cNvPr id="1110" name="TextBox 1109">
            <a:extLst>
              <a:ext uri="{FF2B5EF4-FFF2-40B4-BE49-F238E27FC236}">
                <a16:creationId xmlns:a16="http://schemas.microsoft.com/office/drawing/2014/main" id="{BAB0147F-D06D-68B8-485B-E843BCE5982C}"/>
              </a:ext>
            </a:extLst>
          </p:cNvPr>
          <p:cNvSpPr txBox="1"/>
          <p:nvPr/>
        </p:nvSpPr>
        <p:spPr>
          <a:xfrm>
            <a:off x="9470332" y="13811495"/>
            <a:ext cx="513417" cy="429348"/>
          </a:xfrm>
          <a:prstGeom prst="rect">
            <a:avLst/>
          </a:prstGeom>
          <a:noFill/>
        </p:spPr>
        <p:txBody>
          <a:bodyPr wrap="square" rtlCol="0">
            <a:spAutoFit/>
          </a:bodyPr>
          <a:lstStyle/>
          <a:p>
            <a:r>
              <a:rPr lang="en-GB" sz="2190" b="1" dirty="0">
                <a:latin typeface="Times New Roman" panose="02020603050405020304" pitchFamily="18" charset="0"/>
                <a:cs typeface="Times New Roman" panose="02020603050405020304" pitchFamily="18" charset="0"/>
              </a:rPr>
              <a:t>x</a:t>
            </a:r>
            <a:endParaRPr lang="en-IN" sz="2190" b="1" dirty="0">
              <a:latin typeface="Times New Roman" panose="02020603050405020304" pitchFamily="18" charset="0"/>
              <a:cs typeface="Times New Roman" panose="02020603050405020304" pitchFamily="18" charset="0"/>
            </a:endParaRPr>
          </a:p>
        </p:txBody>
      </p:sp>
      <p:sp>
        <p:nvSpPr>
          <p:cNvPr id="1111" name="TextBox 1110">
            <a:extLst>
              <a:ext uri="{FF2B5EF4-FFF2-40B4-BE49-F238E27FC236}">
                <a16:creationId xmlns:a16="http://schemas.microsoft.com/office/drawing/2014/main" id="{1883204E-5AAE-C98F-9F03-534CD82C55FA}"/>
              </a:ext>
            </a:extLst>
          </p:cNvPr>
          <p:cNvSpPr txBox="1"/>
          <p:nvPr/>
        </p:nvSpPr>
        <p:spPr>
          <a:xfrm>
            <a:off x="13805726" y="15199625"/>
            <a:ext cx="1098837" cy="429348"/>
          </a:xfrm>
          <a:prstGeom prst="rect">
            <a:avLst/>
          </a:prstGeom>
          <a:noFill/>
        </p:spPr>
        <p:txBody>
          <a:bodyPr wrap="square" rtlCol="0">
            <a:spAutoFit/>
          </a:bodyPr>
          <a:lstStyle/>
          <a:p>
            <a:r>
              <a:rPr lang="en-GB" sz="2190" b="1" dirty="0">
                <a:latin typeface="Times New Roman" panose="02020603050405020304" pitchFamily="18" charset="0"/>
                <a:cs typeface="Times New Roman" panose="02020603050405020304" pitchFamily="18" charset="0"/>
              </a:rPr>
              <a:t>Sensors</a:t>
            </a:r>
            <a:endParaRPr lang="en-IN" sz="2190" b="1"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DE0A1285-E52C-C4C9-C6E6-16B6EEB88410}"/>
              </a:ext>
            </a:extLst>
          </p:cNvPr>
          <p:cNvSpPr txBox="1"/>
          <p:nvPr/>
        </p:nvSpPr>
        <p:spPr>
          <a:xfrm>
            <a:off x="4674760" y="15259981"/>
            <a:ext cx="10965180" cy="429348"/>
          </a:xfrm>
          <a:prstGeom prst="rect">
            <a:avLst/>
          </a:prstGeom>
          <a:noFill/>
        </p:spPr>
        <p:txBody>
          <a:bodyPr wrap="square">
            <a:spAutoFit/>
          </a:bodyPr>
          <a:lstStyle/>
          <a:p>
            <a:pPr algn="ctr"/>
            <a:r>
              <a:rPr lang="en-GB" sz="2190" b="1" dirty="0">
                <a:latin typeface="Times New Roman" panose="02020603050405020304" pitchFamily="18" charset="0"/>
                <a:cs typeface="Times New Roman" panose="02020603050405020304" pitchFamily="18" charset="0"/>
              </a:rPr>
              <a:t>Advance Aircraft Control Monitors</a:t>
            </a:r>
            <a:endParaRPr lang="en-IN" sz="2190" b="1"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AF5718EE-761D-1154-C626-56CC5284E7F3}"/>
              </a:ext>
            </a:extLst>
          </p:cNvPr>
          <p:cNvSpPr txBox="1"/>
          <p:nvPr/>
        </p:nvSpPr>
        <p:spPr>
          <a:xfrm>
            <a:off x="-145884" y="21438756"/>
            <a:ext cx="7216767" cy="429348"/>
          </a:xfrm>
          <a:prstGeom prst="rect">
            <a:avLst/>
          </a:prstGeom>
          <a:noFill/>
        </p:spPr>
        <p:txBody>
          <a:bodyPr wrap="square" rtlCol="0">
            <a:spAutoFit/>
          </a:bodyPr>
          <a:lstStyle/>
          <a:p>
            <a:pPr algn="ctr"/>
            <a:r>
              <a:rPr lang="en-GB" sz="2190" b="1" dirty="0">
                <a:latin typeface="Times New Roman" panose="02020603050405020304" pitchFamily="18" charset="0"/>
                <a:cs typeface="Times New Roman" panose="02020603050405020304" pitchFamily="18" charset="0"/>
              </a:rPr>
              <a:t>Fig 1. Comparing Mean Accuracy of RNN &amp; Q-LEARN</a:t>
            </a:r>
            <a:endParaRPr lang="en-IN" sz="2190" b="1" dirty="0">
              <a:latin typeface="Times New Roman" panose="02020603050405020304" pitchFamily="18" charset="0"/>
              <a:cs typeface="Times New Roman" panose="02020603050405020304" pitchFamily="18" charset="0"/>
            </a:endParaRPr>
          </a:p>
        </p:txBody>
      </p:sp>
      <p:graphicFrame>
        <p:nvGraphicFramePr>
          <p:cNvPr id="43" name="Table 42">
            <a:extLst>
              <a:ext uri="{FF2B5EF4-FFF2-40B4-BE49-F238E27FC236}">
                <a16:creationId xmlns:a16="http://schemas.microsoft.com/office/drawing/2014/main" id="{A5FBCE36-5A11-3E81-199D-42333E0CD96B}"/>
              </a:ext>
            </a:extLst>
          </p:cNvPr>
          <p:cNvGraphicFramePr>
            <a:graphicFrameLocks noGrp="1"/>
          </p:cNvGraphicFramePr>
          <p:nvPr>
            <p:extLst>
              <p:ext uri="{D42A27DB-BD31-4B8C-83A1-F6EECF244321}">
                <p14:modId xmlns:p14="http://schemas.microsoft.com/office/powerpoint/2010/main" val="3082513574"/>
              </p:ext>
            </p:extLst>
          </p:nvPr>
        </p:nvGraphicFramePr>
        <p:xfrm>
          <a:off x="14003755" y="15955946"/>
          <a:ext cx="7416623" cy="5473688"/>
        </p:xfrm>
        <a:graphic>
          <a:graphicData uri="http://schemas.openxmlformats.org/drawingml/2006/table">
            <a:tbl>
              <a:tblPr>
                <a:noFill/>
              </a:tblPr>
              <a:tblGrid>
                <a:gridCol w="1270924">
                  <a:extLst>
                    <a:ext uri="{9D8B030D-6E8A-4147-A177-3AD203B41FA5}">
                      <a16:colId xmlns:a16="http://schemas.microsoft.com/office/drawing/2014/main" val="690130349"/>
                    </a:ext>
                  </a:extLst>
                </a:gridCol>
                <a:gridCol w="1577038">
                  <a:extLst>
                    <a:ext uri="{9D8B030D-6E8A-4147-A177-3AD203B41FA5}">
                      <a16:colId xmlns:a16="http://schemas.microsoft.com/office/drawing/2014/main" val="479323081"/>
                    </a:ext>
                  </a:extLst>
                </a:gridCol>
                <a:gridCol w="994285">
                  <a:extLst>
                    <a:ext uri="{9D8B030D-6E8A-4147-A177-3AD203B41FA5}">
                      <a16:colId xmlns:a16="http://schemas.microsoft.com/office/drawing/2014/main" val="454354706"/>
                    </a:ext>
                  </a:extLst>
                </a:gridCol>
                <a:gridCol w="1053333">
                  <a:extLst>
                    <a:ext uri="{9D8B030D-6E8A-4147-A177-3AD203B41FA5}">
                      <a16:colId xmlns:a16="http://schemas.microsoft.com/office/drawing/2014/main" val="3990120540"/>
                    </a:ext>
                  </a:extLst>
                </a:gridCol>
                <a:gridCol w="1361227">
                  <a:extLst>
                    <a:ext uri="{9D8B030D-6E8A-4147-A177-3AD203B41FA5}">
                      <a16:colId xmlns:a16="http://schemas.microsoft.com/office/drawing/2014/main" val="772237922"/>
                    </a:ext>
                  </a:extLst>
                </a:gridCol>
                <a:gridCol w="1159816">
                  <a:extLst>
                    <a:ext uri="{9D8B030D-6E8A-4147-A177-3AD203B41FA5}">
                      <a16:colId xmlns:a16="http://schemas.microsoft.com/office/drawing/2014/main" val="2514488406"/>
                    </a:ext>
                  </a:extLst>
                </a:gridCol>
              </a:tblGrid>
              <a:tr h="1982303">
                <a:tc>
                  <a:txBody>
                    <a:bodyPr/>
                    <a:lstStyle/>
                    <a:p>
                      <a:pPr marL="0" lvl="0" indent="0" algn="ctr" rtl="0">
                        <a:spcBef>
                          <a:spcPts val="0"/>
                        </a:spcBef>
                        <a:spcAft>
                          <a:spcPts val="0"/>
                        </a:spcAft>
                        <a:buNone/>
                      </a:pP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Algorithm</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N</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Means</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Std. Deviation</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Std. Error Means</a:t>
                      </a:r>
                      <a:endParaRPr sz="2190" b="1" baseline="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2552257246"/>
                  </a:ext>
                </a:extLst>
              </a:tr>
              <a:tr h="2068533">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Accuracy</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Recurrent Neural Network</a:t>
                      </a: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10</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88.4000</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2.07364</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0.92736</a:t>
                      </a:r>
                      <a:endParaRPr sz="2190" b="1" baseline="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637396511"/>
                  </a:ext>
                </a:extLst>
              </a:tr>
              <a:tr h="1422852">
                <a:tc>
                  <a:txBody>
                    <a:bodyPr/>
                    <a:lstStyle/>
                    <a:p>
                      <a:pPr marL="0" lvl="0" indent="0" algn="ctr" rtl="0">
                        <a:spcBef>
                          <a:spcPts val="0"/>
                        </a:spcBef>
                        <a:spcAft>
                          <a:spcPts val="0"/>
                        </a:spcAft>
                        <a:buNone/>
                      </a:pP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Q Learning</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a:latin typeface="Times New Roman"/>
                          <a:ea typeface="Times New Roman"/>
                          <a:cs typeface="Times New Roman"/>
                          <a:sym typeface="Times New Roman"/>
                        </a:rPr>
                        <a:t>10</a:t>
                      </a:r>
                      <a:endParaRPr sz="2190" b="1" baseline="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81.3320</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2.05930</a:t>
                      </a:r>
                      <a:endParaRPr sz="2190" b="1" baseline="0" dirty="0">
                        <a:latin typeface="Times New Roman"/>
                        <a:ea typeface="Times New Roman"/>
                        <a:cs typeface="Times New Roman"/>
                        <a:sym typeface="Times New Roman"/>
                      </a:endParaRPr>
                    </a:p>
                  </a:txBody>
                  <a:tcPr marL="63500" marR="63500" marT="63500" marB="63500"/>
                </a:tc>
                <a:tc>
                  <a:txBody>
                    <a:bodyPr/>
                    <a:lstStyle/>
                    <a:p>
                      <a:pPr marL="0" lvl="0" indent="0" algn="ctr" rtl="0">
                        <a:spcBef>
                          <a:spcPts val="0"/>
                        </a:spcBef>
                        <a:spcAft>
                          <a:spcPts val="0"/>
                        </a:spcAft>
                        <a:buNone/>
                      </a:pPr>
                      <a:r>
                        <a:rPr lang="en-US" sz="2190" b="1" baseline="0" dirty="0">
                          <a:latin typeface="Times New Roman"/>
                          <a:ea typeface="Times New Roman"/>
                          <a:cs typeface="Times New Roman"/>
                          <a:sym typeface="Times New Roman"/>
                        </a:rPr>
                        <a:t>0.92095</a:t>
                      </a:r>
                      <a:endParaRPr sz="2190" b="1" baseline="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921720116"/>
                  </a:ext>
                </a:extLst>
              </a:tr>
            </a:tbl>
          </a:graphicData>
        </a:graphic>
      </p:graphicFrame>
      <p:sp>
        <p:nvSpPr>
          <p:cNvPr id="47" name="TextBox 46">
            <a:extLst>
              <a:ext uri="{FF2B5EF4-FFF2-40B4-BE49-F238E27FC236}">
                <a16:creationId xmlns:a16="http://schemas.microsoft.com/office/drawing/2014/main" id="{6F2B551A-C095-CC8D-E998-E99FB3DF2313}"/>
              </a:ext>
            </a:extLst>
          </p:cNvPr>
          <p:cNvSpPr txBox="1"/>
          <p:nvPr/>
        </p:nvSpPr>
        <p:spPr>
          <a:xfrm>
            <a:off x="14270354" y="21438756"/>
            <a:ext cx="7231984" cy="429348"/>
          </a:xfrm>
          <a:prstGeom prst="rect">
            <a:avLst/>
          </a:prstGeom>
          <a:noFill/>
        </p:spPr>
        <p:txBody>
          <a:bodyPr wrap="square" rtlCol="0">
            <a:spAutoFit/>
          </a:bodyPr>
          <a:lstStyle/>
          <a:p>
            <a:pPr algn="just" rtl="0">
              <a:spcBef>
                <a:spcPts val="0"/>
              </a:spcBef>
              <a:spcAft>
                <a:spcPts val="0"/>
              </a:spcAft>
            </a:pPr>
            <a:r>
              <a:rPr lang="en-GB" sz="2190" b="1" i="0" u="none" strike="noStrike" dirty="0">
                <a:solidFill>
                  <a:srgbClr val="000000"/>
                </a:solidFill>
                <a:effectLst/>
                <a:latin typeface="Times New Roman" panose="02020603050405020304" pitchFamily="18" charset="0"/>
                <a:cs typeface="Times New Roman" panose="02020603050405020304" pitchFamily="18" charset="0"/>
              </a:rPr>
              <a:t>Table 2. </a:t>
            </a:r>
            <a:r>
              <a:rPr lang="en-GB" sz="2190" b="1" dirty="0">
                <a:solidFill>
                  <a:srgbClr val="000000"/>
                </a:solidFill>
                <a:latin typeface="Times New Roman" panose="02020603050405020304" pitchFamily="18" charset="0"/>
                <a:cs typeface="Times New Roman" panose="02020603050405020304" pitchFamily="18" charset="0"/>
              </a:rPr>
              <a:t>P</a:t>
            </a:r>
            <a:r>
              <a:rPr lang="en-GB" sz="2190" b="1" i="0" u="none" strike="noStrike" dirty="0">
                <a:solidFill>
                  <a:srgbClr val="000000"/>
                </a:solidFill>
                <a:effectLst/>
                <a:latin typeface="Times New Roman" panose="02020603050405020304" pitchFamily="18" charset="0"/>
                <a:cs typeface="Times New Roman" panose="02020603050405020304" pitchFamily="18" charset="0"/>
              </a:rPr>
              <a:t>erformance between RNN &amp; </a:t>
            </a:r>
            <a:r>
              <a:rPr lang="en-GB" sz="2190" b="1" dirty="0">
                <a:solidFill>
                  <a:srgbClr val="000000"/>
                </a:solidFill>
                <a:latin typeface="Times New Roman" panose="02020603050405020304" pitchFamily="18" charset="0"/>
                <a:cs typeface="Times New Roman" panose="02020603050405020304" pitchFamily="18" charset="0"/>
              </a:rPr>
              <a:t>Q-L</a:t>
            </a:r>
            <a:r>
              <a:rPr lang="en-GB" sz="2190" b="1" i="0" u="none" strike="noStrike" dirty="0">
                <a:solidFill>
                  <a:srgbClr val="000000"/>
                </a:solidFill>
                <a:effectLst/>
                <a:latin typeface="Times New Roman" panose="02020603050405020304" pitchFamily="18" charset="0"/>
                <a:cs typeface="Times New Roman" panose="02020603050405020304" pitchFamily="18" charset="0"/>
              </a:rPr>
              <a:t> Test Cases</a:t>
            </a:r>
            <a:endParaRPr lang="en-GB" sz="2190" b="1" dirty="0">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789751BC-2121-E299-4A66-9EE312A1580F}"/>
              </a:ext>
            </a:extLst>
          </p:cNvPr>
          <p:cNvGraphicFramePr>
            <a:graphicFrameLocks noGrp="1"/>
          </p:cNvGraphicFramePr>
          <p:nvPr>
            <p:extLst>
              <p:ext uri="{D42A27DB-BD31-4B8C-83A1-F6EECF244321}">
                <p14:modId xmlns:p14="http://schemas.microsoft.com/office/powerpoint/2010/main" val="1748678849"/>
              </p:ext>
            </p:extLst>
          </p:nvPr>
        </p:nvGraphicFramePr>
        <p:xfrm>
          <a:off x="7022494" y="15902088"/>
          <a:ext cx="6602187" cy="5527548"/>
        </p:xfrm>
        <a:graphic>
          <a:graphicData uri="http://schemas.openxmlformats.org/drawingml/2006/table">
            <a:tbl>
              <a:tblPr/>
              <a:tblGrid>
                <a:gridCol w="1280424">
                  <a:extLst>
                    <a:ext uri="{9D8B030D-6E8A-4147-A177-3AD203B41FA5}">
                      <a16:colId xmlns:a16="http://schemas.microsoft.com/office/drawing/2014/main" val="572158171"/>
                    </a:ext>
                  </a:extLst>
                </a:gridCol>
                <a:gridCol w="1478267">
                  <a:extLst>
                    <a:ext uri="{9D8B030D-6E8A-4147-A177-3AD203B41FA5}">
                      <a16:colId xmlns:a16="http://schemas.microsoft.com/office/drawing/2014/main" val="2182906755"/>
                    </a:ext>
                  </a:extLst>
                </a:gridCol>
                <a:gridCol w="1522727">
                  <a:extLst>
                    <a:ext uri="{9D8B030D-6E8A-4147-A177-3AD203B41FA5}">
                      <a16:colId xmlns:a16="http://schemas.microsoft.com/office/drawing/2014/main" val="1100943270"/>
                    </a:ext>
                  </a:extLst>
                </a:gridCol>
                <a:gridCol w="2320769">
                  <a:extLst>
                    <a:ext uri="{9D8B030D-6E8A-4147-A177-3AD203B41FA5}">
                      <a16:colId xmlns:a16="http://schemas.microsoft.com/office/drawing/2014/main" val="990377374"/>
                    </a:ext>
                  </a:extLst>
                </a:gridCol>
              </a:tblGrid>
              <a:tr h="417843">
                <a:tc rowSpan="2">
                  <a:txBody>
                    <a:bodyPr/>
                    <a:lstStyle/>
                    <a:p>
                      <a:pPr marL="144145" algn="ctr" rtl="0" fontAlgn="ctr">
                        <a:spcBef>
                          <a:spcPts val="0"/>
                        </a:spcBef>
                        <a:spcAft>
                          <a:spcPts val="0"/>
                        </a:spcAft>
                      </a:pPr>
                      <a:br>
                        <a:rPr lang="en-IN" sz="2190" b="1" dirty="0">
                          <a:effectLst/>
                          <a:latin typeface="Times New Roman" panose="02020603050405020304" pitchFamily="18" charset="0"/>
                          <a:cs typeface="Times New Roman" panose="02020603050405020304" pitchFamily="18" charset="0"/>
                        </a:rPr>
                      </a:br>
                      <a:r>
                        <a:rPr lang="en-IN" sz="2190" b="1" i="0" u="none" strike="noStrike" dirty="0">
                          <a:solidFill>
                            <a:srgbClr val="000000"/>
                          </a:solidFill>
                          <a:effectLst/>
                          <a:latin typeface="Times New Roman" panose="02020603050405020304" pitchFamily="18" charset="0"/>
                          <a:cs typeface="Times New Roman" panose="02020603050405020304" pitchFamily="18" charset="0"/>
                        </a:rPr>
                        <a:t>Sl.No</a:t>
                      </a:r>
                      <a:endParaRPr lang="en-IN" sz="2190" b="1"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rtl="0" fontAlgn="ctr">
                        <a:spcBef>
                          <a:spcPts val="0"/>
                        </a:spcBef>
                        <a:spcAft>
                          <a:spcPts val="0"/>
                        </a:spcAft>
                      </a:pPr>
                      <a:br>
                        <a:rPr lang="en-IN" sz="2190" b="1">
                          <a:effectLst/>
                          <a:latin typeface="Times New Roman" panose="02020603050405020304" pitchFamily="18" charset="0"/>
                          <a:cs typeface="Times New Roman" panose="02020603050405020304" pitchFamily="18" charset="0"/>
                        </a:rPr>
                      </a:br>
                      <a:r>
                        <a:rPr lang="en-IN" sz="2190" b="1" i="0" u="none" strike="noStrike">
                          <a:solidFill>
                            <a:srgbClr val="000000"/>
                          </a:solidFill>
                          <a:effectLst/>
                          <a:latin typeface="Times New Roman" panose="02020603050405020304" pitchFamily="18" charset="0"/>
                          <a:cs typeface="Times New Roman" panose="02020603050405020304" pitchFamily="18" charset="0"/>
                        </a:rPr>
                        <a:t>Test Size</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34290" algn="ctr" rtl="0" fontAlgn="ctr">
                        <a:spcBef>
                          <a:spcPts val="0"/>
                        </a:spcBef>
                        <a:spcAft>
                          <a:spcPts val="0"/>
                        </a:spcAft>
                      </a:pPr>
                      <a:r>
                        <a:rPr lang="en-IN" sz="2190" b="1" i="0" u="none" strike="noStrike" dirty="0">
                          <a:solidFill>
                            <a:srgbClr val="000000"/>
                          </a:solidFill>
                          <a:effectLst/>
                          <a:latin typeface="Times New Roman" panose="02020603050405020304" pitchFamily="18" charset="0"/>
                          <a:cs typeface="Times New Roman" panose="02020603050405020304" pitchFamily="18" charset="0"/>
                        </a:rPr>
                        <a:t>Accuracy</a:t>
                      </a:r>
                      <a:endParaRPr lang="en-IN" sz="2190" b="1"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3157390322"/>
                  </a:ext>
                </a:extLst>
              </a:tr>
              <a:tr h="417843">
                <a:tc vMerge="1">
                  <a:txBody>
                    <a:bodyPr/>
                    <a:lstStyle/>
                    <a:p>
                      <a:endParaRPr lang="en-IN"/>
                    </a:p>
                  </a:txBody>
                  <a:tcPr/>
                </a:tc>
                <a:tc vMerge="1">
                  <a:txBody>
                    <a:bodyPr/>
                    <a:lstStyle/>
                    <a:p>
                      <a:endParaRPr lang="en-IN"/>
                    </a:p>
                  </a:txBody>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RNN</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Q-LEARN</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4591925"/>
                  </a:ext>
                </a:extLst>
              </a:tr>
              <a:tr h="417843">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1</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1</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89.00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80.73</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7091913"/>
                  </a:ext>
                </a:extLst>
              </a:tr>
              <a:tr h="417843">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2</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2</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90.00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81.91</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4612224"/>
                  </a:ext>
                </a:extLst>
              </a:tr>
              <a:tr h="417843">
                <a:tc>
                  <a:txBody>
                    <a:bodyPr/>
                    <a:lstStyle/>
                    <a:p>
                      <a:pPr marR="32385"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3</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3</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90.25</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80.56</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7291096"/>
                  </a:ext>
                </a:extLst>
              </a:tr>
              <a:tr h="417843">
                <a:tc>
                  <a:txBody>
                    <a:bodyPr/>
                    <a:lstStyle/>
                    <a:p>
                      <a:pPr marL="24765"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4</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4</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86.25</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81.25</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7885917"/>
                  </a:ext>
                </a:extLst>
              </a:tr>
              <a:tr h="417843">
                <a:tc>
                  <a:txBody>
                    <a:bodyPr/>
                    <a:lstStyle/>
                    <a:p>
                      <a:pPr marL="24765" marR="32385"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5</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5</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86.50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78.26</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4352744"/>
                  </a:ext>
                </a:extLst>
              </a:tr>
              <a:tr h="417843">
                <a:tc>
                  <a:txBody>
                    <a:bodyPr/>
                    <a:lstStyle/>
                    <a:p>
                      <a:pPr marL="24765"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6</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6</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87.00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80.34</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8967960"/>
                  </a:ext>
                </a:extLst>
              </a:tr>
              <a:tr h="417843">
                <a:tc>
                  <a:txBody>
                    <a:bodyPr/>
                    <a:lstStyle/>
                    <a:p>
                      <a:pPr marL="24765"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7</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7</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95.25</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79.75</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799614"/>
                  </a:ext>
                </a:extLst>
              </a:tr>
              <a:tr h="417843">
                <a:tc>
                  <a:txBody>
                    <a:bodyPr/>
                    <a:lstStyle/>
                    <a:p>
                      <a:pPr marL="24765"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8</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95.50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80.98</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1283484"/>
                  </a:ext>
                </a:extLst>
              </a:tr>
              <a:tr h="417843">
                <a:tc>
                  <a:txBody>
                    <a:bodyPr/>
                    <a:lstStyle/>
                    <a:p>
                      <a:pPr marL="24765"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9</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9</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96.00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81.47</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6855659"/>
                  </a:ext>
                </a:extLst>
              </a:tr>
              <a:tr h="417843">
                <a:tc>
                  <a:txBody>
                    <a:bodyPr/>
                    <a:lstStyle/>
                    <a:p>
                      <a:pPr marL="24765"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10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Test 10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95.50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80.88</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8659659"/>
                  </a:ext>
                </a:extLst>
              </a:tr>
              <a:tr h="417843">
                <a:tc gridSpan="2">
                  <a:txBody>
                    <a:bodyPr/>
                    <a:lstStyle/>
                    <a:p>
                      <a:pPr marL="67945"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Average Test Results</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IN"/>
                    </a:p>
                  </a:txBody>
                  <a:tcPr/>
                </a:tc>
                <a:tc>
                  <a:txBody>
                    <a:bodyPr/>
                    <a:lstStyle/>
                    <a:p>
                      <a:pPr algn="ctr" rtl="0" fontAlgn="ctr">
                        <a:spcBef>
                          <a:spcPts val="0"/>
                        </a:spcBef>
                        <a:spcAft>
                          <a:spcPts val="0"/>
                        </a:spcAft>
                      </a:pPr>
                      <a:r>
                        <a:rPr lang="en-IN" sz="2190" b="1" i="0" u="none" strike="noStrike">
                          <a:solidFill>
                            <a:srgbClr val="000000"/>
                          </a:solidFill>
                          <a:effectLst/>
                          <a:latin typeface="Times New Roman" panose="02020603050405020304" pitchFamily="18" charset="0"/>
                          <a:cs typeface="Times New Roman" panose="02020603050405020304" pitchFamily="18" charset="0"/>
                        </a:rPr>
                        <a:t>88.40</a:t>
                      </a:r>
                      <a:endParaRPr lang="en-IN" sz="2190" b="1">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spcBef>
                          <a:spcPts val="0"/>
                        </a:spcBef>
                        <a:spcAft>
                          <a:spcPts val="0"/>
                        </a:spcAft>
                      </a:pPr>
                      <a:r>
                        <a:rPr lang="en-IN" sz="2190" b="1" i="0" u="none" strike="noStrike" dirty="0">
                          <a:solidFill>
                            <a:srgbClr val="000000"/>
                          </a:solidFill>
                          <a:effectLst/>
                          <a:latin typeface="Times New Roman" panose="02020603050405020304" pitchFamily="18" charset="0"/>
                          <a:cs typeface="Times New Roman" panose="02020603050405020304" pitchFamily="18" charset="0"/>
                        </a:rPr>
                        <a:t>81.33</a:t>
                      </a:r>
                      <a:endParaRPr lang="en-IN" sz="2190" b="1"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2500305"/>
                  </a:ext>
                </a:extLst>
              </a:tr>
            </a:tbl>
          </a:graphicData>
        </a:graphic>
      </p:graphicFrame>
      <p:sp>
        <p:nvSpPr>
          <p:cNvPr id="33" name="TextBox 32">
            <a:extLst>
              <a:ext uri="{FF2B5EF4-FFF2-40B4-BE49-F238E27FC236}">
                <a16:creationId xmlns:a16="http://schemas.microsoft.com/office/drawing/2014/main" id="{B806F78C-958F-E986-BAB9-33CCCAEAF6F5}"/>
              </a:ext>
            </a:extLst>
          </p:cNvPr>
          <p:cNvSpPr txBox="1"/>
          <p:nvPr/>
        </p:nvSpPr>
        <p:spPr>
          <a:xfrm>
            <a:off x="7165571" y="21467470"/>
            <a:ext cx="6565904" cy="429348"/>
          </a:xfrm>
          <a:prstGeom prst="rect">
            <a:avLst/>
          </a:prstGeom>
          <a:noFill/>
        </p:spPr>
        <p:txBody>
          <a:bodyPr wrap="square" rtlCol="0">
            <a:spAutoFit/>
          </a:bodyPr>
          <a:lstStyle/>
          <a:p>
            <a:pPr algn="just" rtl="0">
              <a:spcBef>
                <a:spcPts val="0"/>
              </a:spcBef>
              <a:spcAft>
                <a:spcPts val="0"/>
              </a:spcAft>
            </a:pPr>
            <a:r>
              <a:rPr lang="en-GB" sz="2190" b="1" i="0" u="none" strike="noStrike" dirty="0">
                <a:solidFill>
                  <a:srgbClr val="000000"/>
                </a:solidFill>
                <a:effectLst/>
                <a:latin typeface="Times New Roman" panose="02020603050405020304" pitchFamily="18" charset="0"/>
                <a:cs typeface="Times New Roman" panose="02020603050405020304" pitchFamily="18" charset="0"/>
              </a:rPr>
              <a:t>Table 1. Ten Test Cases between RNN &amp; Q</a:t>
            </a:r>
            <a:r>
              <a:rPr lang="en-GB" sz="2190" b="1" dirty="0">
                <a:solidFill>
                  <a:srgbClr val="000000"/>
                </a:solidFill>
                <a:latin typeface="Times New Roman" panose="02020603050405020304" pitchFamily="18" charset="0"/>
                <a:cs typeface="Times New Roman" panose="02020603050405020304" pitchFamily="18" charset="0"/>
              </a:rPr>
              <a:t>-LEARN</a:t>
            </a:r>
            <a:endParaRPr lang="en-GB" sz="2190" b="1"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622</TotalTime>
  <Words>834</Words>
  <Application>Microsoft Office PowerPoint</Application>
  <PresentationFormat>Custom</PresentationFormat>
  <Paragraphs>118</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Söhne</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the_vishnuteja .</cp:lastModifiedBy>
  <cp:revision>67</cp:revision>
  <dcterms:created xsi:type="dcterms:W3CDTF">2023-04-19T08:35:00Z</dcterms:created>
  <dcterms:modified xsi:type="dcterms:W3CDTF">2024-04-18T03:30:42Z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