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6459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06CA"/>
    <a:srgbClr val="04A0FF"/>
    <a:srgbClr val="0066FF"/>
    <a:srgbClr val="00CC00"/>
    <a:srgbClr val="007A37"/>
    <a:srgbClr val="FF3399"/>
    <a:srgbClr val="D7F5CD"/>
    <a:srgbClr val="FCDCBF"/>
    <a:srgbClr val="BFE7FF"/>
    <a:srgbClr val="FFC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5" d="100"/>
          <a:sy n="25" d="100"/>
        </p:scale>
        <p:origin x="1868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4441" y="5387365"/>
            <a:ext cx="13990320" cy="11460480"/>
          </a:xfrm>
        </p:spPr>
        <p:txBody>
          <a:bodyPr anchor="b"/>
          <a:lstStyle>
            <a:lvl1pPr algn="ctr">
              <a:defRPr sz="10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17289780"/>
            <a:ext cx="12344400" cy="7947659"/>
          </a:xfrm>
        </p:spPr>
        <p:txBody>
          <a:bodyPr/>
          <a:lstStyle>
            <a:lvl1pPr marL="0" indent="0" algn="ctr">
              <a:buNone/>
              <a:defRPr sz="4323"/>
            </a:lvl1pPr>
            <a:lvl2pPr marL="823285" indent="0" algn="ctr">
              <a:buNone/>
              <a:defRPr sz="3602"/>
            </a:lvl2pPr>
            <a:lvl3pPr marL="1646571" indent="0" algn="ctr">
              <a:buNone/>
              <a:defRPr sz="3241"/>
            </a:lvl3pPr>
            <a:lvl4pPr marL="2469856" indent="0" algn="ctr">
              <a:buNone/>
              <a:defRPr sz="2880"/>
            </a:lvl4pPr>
            <a:lvl5pPr marL="3293142" indent="0" algn="ctr">
              <a:buNone/>
              <a:defRPr sz="2880"/>
            </a:lvl5pPr>
            <a:lvl6pPr marL="4116427" indent="0" algn="ctr">
              <a:buNone/>
              <a:defRPr sz="2880"/>
            </a:lvl6pPr>
            <a:lvl7pPr marL="4939713" indent="0" algn="ctr">
              <a:buNone/>
              <a:defRPr sz="2880"/>
            </a:lvl7pPr>
            <a:lvl8pPr marL="5762993" indent="0" algn="ctr">
              <a:buNone/>
              <a:defRPr sz="2880"/>
            </a:lvl8pPr>
            <a:lvl9pPr marL="6586284" indent="0" algn="ctr">
              <a:buNone/>
              <a:defRPr sz="28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891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15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98" y="8206752"/>
            <a:ext cx="14196060" cy="13693136"/>
          </a:xfrm>
        </p:spPr>
        <p:txBody>
          <a:bodyPr anchor="b"/>
          <a:lstStyle>
            <a:lvl1pPr>
              <a:defRPr sz="10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998" y="22029429"/>
            <a:ext cx="14196060" cy="7200899"/>
          </a:xfrm>
        </p:spPr>
        <p:txBody>
          <a:bodyPr/>
          <a:lstStyle>
            <a:lvl1pPr marL="0" indent="0">
              <a:buNone/>
              <a:defRPr sz="4323">
                <a:solidFill>
                  <a:schemeClr val="tx1"/>
                </a:solidFill>
              </a:defRPr>
            </a:lvl1pPr>
            <a:lvl2pPr marL="823285" indent="0">
              <a:buNone/>
              <a:defRPr sz="3602">
                <a:solidFill>
                  <a:schemeClr val="tx1">
                    <a:tint val="75000"/>
                  </a:schemeClr>
                </a:solidFill>
              </a:defRPr>
            </a:lvl2pPr>
            <a:lvl3pPr marL="1646571" indent="0">
              <a:buNone/>
              <a:defRPr sz="3241">
                <a:solidFill>
                  <a:schemeClr val="tx1">
                    <a:tint val="75000"/>
                  </a:schemeClr>
                </a:solidFill>
              </a:defRPr>
            </a:lvl3pPr>
            <a:lvl4pPr marL="2469856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4pPr>
            <a:lvl5pPr marL="3293142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5pPr>
            <a:lvl6pPr marL="4116427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6pPr>
            <a:lvl7pPr marL="4939713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7pPr>
            <a:lvl8pPr marL="5762993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8pPr>
            <a:lvl9pPr marL="6586284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66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996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1752608"/>
            <a:ext cx="14196060" cy="6362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3716" y="8069588"/>
            <a:ext cx="6963012" cy="3954780"/>
          </a:xfrm>
        </p:spPr>
        <p:txBody>
          <a:bodyPr anchor="b"/>
          <a:lstStyle>
            <a:lvl1pPr marL="0" indent="0">
              <a:buNone/>
              <a:defRPr sz="4323" b="1"/>
            </a:lvl1pPr>
            <a:lvl2pPr marL="823285" indent="0">
              <a:buNone/>
              <a:defRPr sz="3602" b="1"/>
            </a:lvl2pPr>
            <a:lvl3pPr marL="1646571" indent="0">
              <a:buNone/>
              <a:defRPr sz="3241" b="1"/>
            </a:lvl3pPr>
            <a:lvl4pPr marL="2469856" indent="0">
              <a:buNone/>
              <a:defRPr sz="2880" b="1"/>
            </a:lvl4pPr>
            <a:lvl5pPr marL="3293142" indent="0">
              <a:buNone/>
              <a:defRPr sz="2880" b="1"/>
            </a:lvl5pPr>
            <a:lvl6pPr marL="4116427" indent="0">
              <a:buNone/>
              <a:defRPr sz="2880" b="1"/>
            </a:lvl6pPr>
            <a:lvl7pPr marL="4939713" indent="0">
              <a:buNone/>
              <a:defRPr sz="2880" b="1"/>
            </a:lvl7pPr>
            <a:lvl8pPr marL="5762993" indent="0">
              <a:buNone/>
              <a:defRPr sz="2880" b="1"/>
            </a:lvl8pPr>
            <a:lvl9pPr marL="6586284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3716" y="12024360"/>
            <a:ext cx="6963012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1" y="8069588"/>
            <a:ext cx="6997304" cy="3954780"/>
          </a:xfrm>
        </p:spPr>
        <p:txBody>
          <a:bodyPr anchor="b"/>
          <a:lstStyle>
            <a:lvl1pPr marL="0" indent="0">
              <a:buNone/>
              <a:defRPr sz="4323" b="1"/>
            </a:lvl1pPr>
            <a:lvl2pPr marL="823285" indent="0">
              <a:buNone/>
              <a:defRPr sz="3602" b="1"/>
            </a:lvl2pPr>
            <a:lvl3pPr marL="1646571" indent="0">
              <a:buNone/>
              <a:defRPr sz="3241" b="1"/>
            </a:lvl3pPr>
            <a:lvl4pPr marL="2469856" indent="0">
              <a:buNone/>
              <a:defRPr sz="2880" b="1"/>
            </a:lvl4pPr>
            <a:lvl5pPr marL="3293142" indent="0">
              <a:buNone/>
              <a:defRPr sz="2880" b="1"/>
            </a:lvl5pPr>
            <a:lvl6pPr marL="4116427" indent="0">
              <a:buNone/>
              <a:defRPr sz="2880" b="1"/>
            </a:lvl6pPr>
            <a:lvl7pPr marL="4939713" indent="0">
              <a:buNone/>
              <a:defRPr sz="2880" b="1"/>
            </a:lvl7pPr>
            <a:lvl8pPr marL="5762993" indent="0">
              <a:buNone/>
              <a:defRPr sz="2880" b="1"/>
            </a:lvl8pPr>
            <a:lvl9pPr marL="6586284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471" y="12024360"/>
            <a:ext cx="6997304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208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478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77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304" y="4739649"/>
            <a:ext cx="8332470" cy="23393398"/>
          </a:xfrm>
        </p:spPr>
        <p:txBody>
          <a:bodyPr/>
          <a:lstStyle>
            <a:lvl1pPr>
              <a:defRPr sz="5761"/>
            </a:lvl1pPr>
            <a:lvl2pPr>
              <a:defRPr sz="5039"/>
            </a:lvl2pPr>
            <a:lvl3pPr>
              <a:defRPr sz="4323"/>
            </a:lvl3pPr>
            <a:lvl4pPr>
              <a:defRPr sz="3602"/>
            </a:lvl4pPr>
            <a:lvl5pPr>
              <a:defRPr sz="3602"/>
            </a:lvl5pPr>
            <a:lvl6pPr>
              <a:defRPr sz="3602"/>
            </a:lvl6pPr>
            <a:lvl7pPr>
              <a:defRPr sz="3602"/>
            </a:lvl7pPr>
            <a:lvl8pPr>
              <a:defRPr sz="3602"/>
            </a:lvl8pPr>
            <a:lvl9pPr>
              <a:defRPr sz="36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285" indent="0">
              <a:buNone/>
              <a:defRPr sz="2520"/>
            </a:lvl2pPr>
            <a:lvl3pPr marL="1646571" indent="0">
              <a:buNone/>
              <a:defRPr sz="2159"/>
            </a:lvl3pPr>
            <a:lvl4pPr marL="2469856" indent="0">
              <a:buNone/>
              <a:defRPr sz="1798"/>
            </a:lvl4pPr>
            <a:lvl5pPr marL="3293142" indent="0">
              <a:buNone/>
              <a:defRPr sz="1798"/>
            </a:lvl5pPr>
            <a:lvl6pPr marL="4116427" indent="0">
              <a:buNone/>
              <a:defRPr sz="1798"/>
            </a:lvl6pPr>
            <a:lvl7pPr marL="4939713" indent="0">
              <a:buNone/>
              <a:defRPr sz="1798"/>
            </a:lvl7pPr>
            <a:lvl8pPr marL="5762993" indent="0">
              <a:buNone/>
              <a:defRPr sz="1798"/>
            </a:lvl8pPr>
            <a:lvl9pPr marL="6586284" indent="0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88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7304" y="4739649"/>
            <a:ext cx="8332470" cy="23393398"/>
          </a:xfrm>
        </p:spPr>
        <p:txBody>
          <a:bodyPr anchor="t"/>
          <a:lstStyle>
            <a:lvl1pPr marL="0" indent="0">
              <a:buNone/>
              <a:defRPr sz="5761"/>
            </a:lvl1pPr>
            <a:lvl2pPr marL="823285" indent="0">
              <a:buNone/>
              <a:defRPr sz="5039"/>
            </a:lvl2pPr>
            <a:lvl3pPr marL="1646571" indent="0">
              <a:buNone/>
              <a:defRPr sz="4323"/>
            </a:lvl3pPr>
            <a:lvl4pPr marL="2469856" indent="0">
              <a:buNone/>
              <a:defRPr sz="3602"/>
            </a:lvl4pPr>
            <a:lvl5pPr marL="3293142" indent="0">
              <a:buNone/>
              <a:defRPr sz="3602"/>
            </a:lvl5pPr>
            <a:lvl6pPr marL="4116427" indent="0">
              <a:buNone/>
              <a:defRPr sz="3602"/>
            </a:lvl6pPr>
            <a:lvl7pPr marL="4939713" indent="0">
              <a:buNone/>
              <a:defRPr sz="3602"/>
            </a:lvl7pPr>
            <a:lvl8pPr marL="5762993" indent="0">
              <a:buNone/>
              <a:defRPr sz="3602"/>
            </a:lvl8pPr>
            <a:lvl9pPr marL="6586284" indent="0">
              <a:buNone/>
              <a:defRPr sz="36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285" indent="0">
              <a:buNone/>
              <a:defRPr sz="2520"/>
            </a:lvl2pPr>
            <a:lvl3pPr marL="1646571" indent="0">
              <a:buNone/>
              <a:defRPr sz="2159"/>
            </a:lvl3pPr>
            <a:lvl4pPr marL="2469856" indent="0">
              <a:buNone/>
              <a:defRPr sz="1798"/>
            </a:lvl4pPr>
            <a:lvl5pPr marL="3293142" indent="0">
              <a:buNone/>
              <a:defRPr sz="1798"/>
            </a:lvl5pPr>
            <a:lvl6pPr marL="4116427" indent="0">
              <a:buNone/>
              <a:defRPr sz="1798"/>
            </a:lvl6pPr>
            <a:lvl7pPr marL="4939713" indent="0">
              <a:buNone/>
              <a:defRPr sz="1798"/>
            </a:lvl7pPr>
            <a:lvl8pPr marL="5762993" indent="0">
              <a:buNone/>
              <a:defRPr sz="1798"/>
            </a:lvl8pPr>
            <a:lvl9pPr marL="6586284" indent="0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8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97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8616" y="1752621"/>
            <a:ext cx="3549015" cy="278968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6" y="1752621"/>
            <a:ext cx="10441305" cy="278968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14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8763025"/>
            <a:ext cx="14196060" cy="20886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2DA87-17A3-43A0-B86E-2FCFB6EFBC3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797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46571" rtl="0" eaLnBrk="1" latinLnBrk="0" hangingPunct="1">
        <a:lnSpc>
          <a:spcPct val="90000"/>
        </a:lnSpc>
        <a:spcBef>
          <a:spcPct val="0"/>
        </a:spcBef>
        <a:buNone/>
        <a:defRPr sz="7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645" indent="-411645" algn="l" defTabSz="1646571" rtl="0" eaLnBrk="1" latinLnBrk="0" hangingPunct="1">
        <a:lnSpc>
          <a:spcPct val="90000"/>
        </a:lnSpc>
        <a:spcBef>
          <a:spcPts val="1798"/>
        </a:spcBef>
        <a:buFont typeface="Arial" panose="020B0604020202020204" pitchFamily="34" charset="0"/>
        <a:buChar char="•"/>
        <a:defRPr sz="5039" kern="1200">
          <a:solidFill>
            <a:schemeClr val="tx1"/>
          </a:solidFill>
          <a:latin typeface="+mn-lt"/>
          <a:ea typeface="+mn-ea"/>
          <a:cs typeface="+mn-cs"/>
        </a:defRPr>
      </a:lvl1pPr>
      <a:lvl2pPr marL="1234930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4323" kern="1200">
          <a:solidFill>
            <a:schemeClr val="tx1"/>
          </a:solidFill>
          <a:latin typeface="+mn-lt"/>
          <a:ea typeface="+mn-ea"/>
          <a:cs typeface="+mn-cs"/>
        </a:defRPr>
      </a:lvl2pPr>
      <a:lvl3pPr marL="2058212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602" kern="1200">
          <a:solidFill>
            <a:schemeClr val="tx1"/>
          </a:solidFill>
          <a:latin typeface="+mn-lt"/>
          <a:ea typeface="+mn-ea"/>
          <a:cs typeface="+mn-cs"/>
        </a:defRPr>
      </a:lvl3pPr>
      <a:lvl4pPr marL="2881502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marL="3704783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marL="4528073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marL="5351359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marL="6174639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marL="6997930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1pPr>
      <a:lvl2pPr marL="823285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2pPr>
      <a:lvl3pPr marL="1646571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3pPr>
      <a:lvl4pPr marL="2469856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marL="3293142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marL="4116427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marL="4939713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marL="5762993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marL="6586284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AF757CC-C832-3EB9-8642-C2DADE82A7D6}"/>
              </a:ext>
            </a:extLst>
          </p:cNvPr>
          <p:cNvSpPr/>
          <p:nvPr/>
        </p:nvSpPr>
        <p:spPr>
          <a:xfrm>
            <a:off x="-1" y="1"/>
            <a:ext cx="16459202" cy="269206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5" y="3527768"/>
            <a:ext cx="16459203" cy="6292277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E37FD5-5EF1-EDB2-8DF3-A5AA932536BE}"/>
              </a:ext>
            </a:extLst>
          </p:cNvPr>
          <p:cNvSpPr/>
          <p:nvPr/>
        </p:nvSpPr>
        <p:spPr>
          <a:xfrm>
            <a:off x="-2" y="9835285"/>
            <a:ext cx="16459203" cy="6076719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021296-65E9-56EE-2F9B-01E9D7D98AE3}"/>
              </a:ext>
            </a:extLst>
          </p:cNvPr>
          <p:cNvSpPr/>
          <p:nvPr/>
        </p:nvSpPr>
        <p:spPr>
          <a:xfrm>
            <a:off x="-2" y="15891677"/>
            <a:ext cx="16459203" cy="6282125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C73F69-4CF5-AB24-E8A8-73DEEF223A8F}"/>
              </a:ext>
            </a:extLst>
          </p:cNvPr>
          <p:cNvSpPr/>
          <p:nvPr/>
        </p:nvSpPr>
        <p:spPr>
          <a:xfrm>
            <a:off x="-2" y="22179493"/>
            <a:ext cx="16459203" cy="6354475"/>
          </a:xfrm>
          <a:prstGeom prst="rect">
            <a:avLst/>
          </a:prstGeom>
          <a:solidFill>
            <a:srgbClr val="FC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B6150E-B6D9-0477-CF16-6A98BF9C825F}"/>
              </a:ext>
            </a:extLst>
          </p:cNvPr>
          <p:cNvSpPr/>
          <p:nvPr/>
        </p:nvSpPr>
        <p:spPr>
          <a:xfrm>
            <a:off x="-2" y="28533969"/>
            <a:ext cx="16459203" cy="4384428"/>
          </a:xfrm>
          <a:prstGeom prst="rect">
            <a:avLst/>
          </a:prstGeom>
          <a:solidFill>
            <a:srgbClr val="D7F5CD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19" name="Rectangle 18"/>
          <p:cNvSpPr/>
          <p:nvPr/>
        </p:nvSpPr>
        <p:spPr>
          <a:xfrm>
            <a:off x="187036" y="3691196"/>
            <a:ext cx="3261014" cy="4741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700850-254E-CEFB-BC41-4AE4951B636A}"/>
              </a:ext>
            </a:extLst>
          </p:cNvPr>
          <p:cNvSpPr/>
          <p:nvPr/>
        </p:nvSpPr>
        <p:spPr>
          <a:xfrm>
            <a:off x="-2" y="2698062"/>
            <a:ext cx="16459203" cy="875425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22" name="Rectangle 21"/>
          <p:cNvSpPr/>
          <p:nvPr/>
        </p:nvSpPr>
        <p:spPr>
          <a:xfrm>
            <a:off x="187042" y="16110208"/>
            <a:ext cx="1879890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7042" y="22386831"/>
            <a:ext cx="59089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87042" y="28619376"/>
            <a:ext cx="3022889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7EBDFB-488C-7F01-6765-9DA15C34FC9B}"/>
              </a:ext>
            </a:extLst>
          </p:cNvPr>
          <p:cNvSpPr txBox="1"/>
          <p:nvPr/>
        </p:nvSpPr>
        <p:spPr>
          <a:xfrm>
            <a:off x="374075" y="2799752"/>
            <a:ext cx="15505042" cy="646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1200"/>
              </a:spcBef>
              <a:buNone/>
            </a:pPr>
            <a:r>
              <a:rPr lang="en-US" sz="36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City –Public Works Department’s Neighborhood App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047" y="9979922"/>
            <a:ext cx="51850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>
            <a:off x="264817" y="16561538"/>
            <a:ext cx="10349440" cy="611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SmartCity App achieved a mean complaint management efficiency score of 91.84 compared to 42.15 for traditional complaint systems, demonstrating an overall efficiency improvement of approximately 117.8% during evaluation. </a:t>
            </a:r>
          </a:p>
          <a:p>
            <a:pPr marL="342900" marR="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complaint tracking and AI-assisted reporting reduced manual complaint handling complexity by nearly 52%, while improving complaint visibility and notification responsiveness across multiple testing scenarios.</a:t>
            </a:r>
          </a:p>
          <a:p>
            <a:pPr marL="342900" marR="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Image-based verification improved complaint accuracy and issue identification efficiency by approximately 63% compared to existing methods.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showed greater transparency, quicker complaint access, and having improved efficiency, making the App scalable for smart governance.</a:t>
            </a:r>
          </a:p>
          <a:p>
            <a:pPr marL="342900" marR="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>
            <a:off x="243442" y="22906032"/>
            <a:ext cx="16028715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SmartCity – PWD Neighborhood App improved civic communication by enabling citizens to report public issues digitally while increasing transparency, complaint visibility, and administrative response efficiency.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Civic Buddy assistance simplified complaint reporting through conversational interaction, helping users identify issue categories accurately while reducing confusion during complaint registration processes.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complaint tracking and notification features enhanced user engagement by continuously updating citizens regarding complaint progress, resolution status, and administrative workflow activities within the application.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Before-and-after proof image verification improved accountability by allowing users to visually confirm completed maintenance activities, increasing trust between citizens, contractors, and municipal authorities effectively.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demonstrated stable performance, user-friendly interaction, and scalable complaint management capabilities, making it suitable for improving smart governance and neighbourhood-level civic issue resolution systems.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>
            <a:off x="328936" y="29227204"/>
            <a:ext cx="15943216" cy="3470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rtl="0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IN" sz="2400" b="0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 Developers. 2024. Android Developers Guide for Application Development Using Java and XML Technologies. Google LLC, California.</a:t>
            </a:r>
            <a:endParaRPr lang="en-US" sz="2400" b="0" i="0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IN" sz="2400" b="0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Kumar, R., and S. Prakash. 2023. “Smart Civic Issue Reporting and Tracking Systems Using Android Mobile Applications for Urban Governance.” International Journal of Smart City Technologies 12 (3): 88–97.</a:t>
            </a:r>
            <a:endParaRPr lang="en-US" sz="2400" b="0" i="0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IN" sz="2400" b="0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Sharma, P., and K. Reddy. 2022. “AI-Based Civic Complaint Management Systems for Smart Governance and Public Infrastructure Monitoring Applications.” Journal of Urban Computing and Intelligent Systems 9 (2): 45–54.</a:t>
            </a:r>
            <a:endParaRPr lang="en-US" sz="2400" b="0" i="0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IN" sz="2400" b="0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Patel, H., and M. Varma. 2021. “Real-Time Public Issue Monitoring and Complaint Tracking Using Android-Based Smart City Platforms.” International Journal of Advanced Software Engineering 7 (4): 112–120.</a:t>
            </a:r>
            <a:endParaRPr lang="en-US" sz="2400" b="0" i="0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B03A7FA-9FB5-174D-7054-0EB5C33C7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350659" y="4383978"/>
            <a:ext cx="4977898" cy="3974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443" y="290580"/>
            <a:ext cx="15952717" cy="18324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2AA490-4F2E-AC7C-3242-402CB2C428A7}"/>
              </a:ext>
            </a:extLst>
          </p:cNvPr>
          <p:cNvSpPr txBox="1"/>
          <p:nvPr/>
        </p:nvSpPr>
        <p:spPr>
          <a:xfrm>
            <a:off x="9643463" y="1470940"/>
            <a:ext cx="6420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Student Name: </a:t>
            </a:r>
            <a:r>
              <a:rPr lang="en-IN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S. Vishnu Teja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pPr algn="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Project Guide: </a:t>
            </a:r>
            <a:r>
              <a:rPr lang="en-IN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Dr. Karthik Raj</a:t>
            </a:r>
            <a:br>
              <a:rPr lang="en-IN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Reg. No: </a:t>
            </a:r>
            <a:r>
              <a:rPr lang="en-IN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192224069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2297E4-8A21-9110-5B1A-609D6E65E2A9}"/>
              </a:ext>
            </a:extLst>
          </p:cNvPr>
          <p:cNvSpPr txBox="1"/>
          <p:nvPr/>
        </p:nvSpPr>
        <p:spPr>
          <a:xfrm>
            <a:off x="243443" y="4165335"/>
            <a:ext cx="11050820" cy="611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SmartCity – PWD Neighborhood App is a mobile-based civic issue reporting and management system developed to improve communication between citizens and the Public Works Department (PWD).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integrated Civic Buddy provides smart issue identification support, while real-time complaint tracking, status updates, and proof-of-resolution features ensure improved transparency, accountability, and faster departmental responses compared to traditional manual reporting methods.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actively encouraging citizen participation and collaboration, the app strengthens civic engagement, improves communication with the Public Works Department, and contributes to smarter, more responsive, and sustainable urban infrastructure management.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51438-CF05-7163-9A71-120A97F0146D}"/>
              </a:ext>
            </a:extLst>
          </p:cNvPr>
          <p:cNvSpPr txBox="1"/>
          <p:nvPr/>
        </p:nvSpPr>
        <p:spPr>
          <a:xfrm>
            <a:off x="11294262" y="21476718"/>
            <a:ext cx="43542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 System Efficiency Analysis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1DBF19-6982-1516-8740-55A71689E934}"/>
              </a:ext>
            </a:extLst>
          </p:cNvPr>
          <p:cNvSpPr txBox="1"/>
          <p:nvPr/>
        </p:nvSpPr>
        <p:spPr>
          <a:xfrm>
            <a:off x="11675142" y="8627483"/>
            <a:ext cx="446115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1. Smart City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Overview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6AFB899-85B4-7251-D646-9CA4BA00FC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867"/>
          <a:stretch>
            <a:fillRect/>
          </a:stretch>
        </p:blipFill>
        <p:spPr>
          <a:xfrm>
            <a:off x="10614258" y="16830815"/>
            <a:ext cx="5714300" cy="442135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EC1B7AA-75E9-3509-6F58-49C0B370BA51}"/>
              </a:ext>
            </a:extLst>
          </p:cNvPr>
          <p:cNvSpPr/>
          <p:nvPr/>
        </p:nvSpPr>
        <p:spPr>
          <a:xfrm>
            <a:off x="560655" y="11174305"/>
            <a:ext cx="2468880" cy="87363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Citizen/Admin</a:t>
            </a:r>
          </a:p>
          <a:p>
            <a:pPr algn="ctr"/>
            <a:r>
              <a:rPr lang="en-GB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endParaRPr lang="en-IN" sz="219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D8692C6-8943-8CA0-326D-362274B48A52}"/>
              </a:ext>
            </a:extLst>
          </p:cNvPr>
          <p:cNvSpPr/>
          <p:nvPr/>
        </p:nvSpPr>
        <p:spPr>
          <a:xfrm>
            <a:off x="10936573" y="11112189"/>
            <a:ext cx="2468880" cy="873634"/>
          </a:xfrm>
          <a:prstGeom prst="rect">
            <a:avLst/>
          </a:prstGeom>
          <a:solidFill>
            <a:srgbClr val="FF33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endParaRPr lang="en-IN" sz="219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34D784-476D-EAEA-286E-E373CEEFCF5A}"/>
              </a:ext>
            </a:extLst>
          </p:cNvPr>
          <p:cNvSpPr/>
          <p:nvPr/>
        </p:nvSpPr>
        <p:spPr>
          <a:xfrm>
            <a:off x="7576679" y="11134210"/>
            <a:ext cx="2468880" cy="873634"/>
          </a:xfrm>
          <a:prstGeom prst="rect">
            <a:avLst/>
          </a:prstGeom>
          <a:solidFill>
            <a:srgbClr val="04A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Complaint</a:t>
            </a:r>
          </a:p>
          <a:p>
            <a:pPr algn="ctr"/>
            <a:r>
              <a:rPr lang="en-US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 Engine</a:t>
            </a:r>
            <a:endParaRPr lang="en-IN" sz="219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82FB63-037C-D6D2-EC60-C393A3D99E27}"/>
              </a:ext>
            </a:extLst>
          </p:cNvPr>
          <p:cNvSpPr/>
          <p:nvPr/>
        </p:nvSpPr>
        <p:spPr>
          <a:xfrm>
            <a:off x="6937428" y="12925979"/>
            <a:ext cx="2468880" cy="10305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</a:t>
            </a:r>
          </a:p>
          <a:p>
            <a:pPr algn="ctr"/>
            <a:r>
              <a:rPr lang="en-GB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IN" sz="219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46EEFF-7A2A-6F04-2F85-28D03E330B60}"/>
              </a:ext>
            </a:extLst>
          </p:cNvPr>
          <p:cNvSpPr/>
          <p:nvPr/>
        </p:nvSpPr>
        <p:spPr>
          <a:xfrm>
            <a:off x="3829298" y="13011707"/>
            <a:ext cx="2468880" cy="8736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Analysis</a:t>
            </a:r>
          </a:p>
          <a:p>
            <a:pPr algn="ctr"/>
            <a:r>
              <a:rPr lang="en-GB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(Gemini AI)</a:t>
            </a:r>
            <a:endParaRPr lang="en-IN" sz="219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D9DC33-2BBE-80F9-1473-D17E894358A5}"/>
              </a:ext>
            </a:extLst>
          </p:cNvPr>
          <p:cNvSpPr/>
          <p:nvPr/>
        </p:nvSpPr>
        <p:spPr>
          <a:xfrm>
            <a:off x="3829298" y="11033644"/>
            <a:ext cx="2468880" cy="109845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Compliant Registration</a:t>
            </a:r>
          </a:p>
          <a:p>
            <a:pPr algn="ctr"/>
            <a:r>
              <a:rPr lang="en-GB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(Photo +GPS)</a:t>
            </a:r>
            <a:endParaRPr lang="en-IN" sz="219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8B5DE6-4ED6-48C4-D2DC-AF241D48F46E}"/>
              </a:ext>
            </a:extLst>
          </p:cNvPr>
          <p:cNvSpPr/>
          <p:nvPr/>
        </p:nvSpPr>
        <p:spPr>
          <a:xfrm>
            <a:off x="560655" y="13365365"/>
            <a:ext cx="2468880" cy="873634"/>
          </a:xfrm>
          <a:prstGeom prst="rect">
            <a:avLst/>
          </a:prstGeom>
          <a:solidFill>
            <a:srgbClr val="A006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Bases</a:t>
            </a:r>
          </a:p>
          <a:p>
            <a:pPr algn="ctr"/>
            <a:r>
              <a:rPr lang="en-GB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sz="219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A2F0678-526B-147F-08AA-8F3BF508014D}"/>
              </a:ext>
            </a:extLst>
          </p:cNvPr>
          <p:cNvSpPr/>
          <p:nvPr/>
        </p:nvSpPr>
        <p:spPr>
          <a:xfrm>
            <a:off x="10936573" y="9946171"/>
            <a:ext cx="2468880" cy="8736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</a:p>
          <a:p>
            <a:pPr algn="ctr"/>
            <a:r>
              <a:rPr lang="en-GB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  <a:endParaRPr lang="en-IN" sz="219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DDA17E-FEA8-DC66-8980-A5035220E43B}"/>
              </a:ext>
            </a:extLst>
          </p:cNvPr>
          <p:cNvSpPr/>
          <p:nvPr/>
        </p:nvSpPr>
        <p:spPr>
          <a:xfrm>
            <a:off x="11869367" y="13474343"/>
            <a:ext cx="2468880" cy="39043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Storage</a:t>
            </a:r>
            <a:endParaRPr lang="en-IN" sz="219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FC440B6-D7F4-631E-4788-D70FA4336966}"/>
              </a:ext>
            </a:extLst>
          </p:cNvPr>
          <p:cNvSpPr/>
          <p:nvPr/>
        </p:nvSpPr>
        <p:spPr>
          <a:xfrm>
            <a:off x="11869367" y="14085606"/>
            <a:ext cx="2468880" cy="39043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Maps API</a:t>
            </a:r>
            <a:endParaRPr lang="en-IN" sz="219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45E385A-C082-DC60-CC55-89FD1AA9492D}"/>
              </a:ext>
            </a:extLst>
          </p:cNvPr>
          <p:cNvSpPr/>
          <p:nvPr/>
        </p:nvSpPr>
        <p:spPr>
          <a:xfrm>
            <a:off x="11877694" y="14696869"/>
            <a:ext cx="2468880" cy="39043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  <a:endParaRPr lang="en-IN" sz="219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3020E982-7C46-5345-CCC1-B01F56B060BE}"/>
              </a:ext>
            </a:extLst>
          </p:cNvPr>
          <p:cNvSpPr/>
          <p:nvPr/>
        </p:nvSpPr>
        <p:spPr>
          <a:xfrm>
            <a:off x="13787393" y="11117573"/>
            <a:ext cx="2468880" cy="873634"/>
          </a:xfrm>
          <a:prstGeom prst="rect">
            <a:avLst/>
          </a:prstGeom>
          <a:solidFill>
            <a:srgbClr val="00CC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Complaint</a:t>
            </a:r>
          </a:p>
          <a:p>
            <a:pPr algn="ctr"/>
            <a:r>
              <a:rPr lang="en-US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  <a:endParaRPr lang="en-IN" sz="219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1474F84A-87EB-363E-1688-80D303A753FE}"/>
              </a:ext>
            </a:extLst>
          </p:cNvPr>
          <p:cNvSpPr/>
          <p:nvPr/>
        </p:nvSpPr>
        <p:spPr>
          <a:xfrm>
            <a:off x="11869367" y="12852269"/>
            <a:ext cx="2468880" cy="39043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GPS / Location</a:t>
            </a:r>
            <a:endParaRPr lang="en-IN" sz="219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8" name="Flowchart: Magnetic Disk 1077">
            <a:extLst>
              <a:ext uri="{FF2B5EF4-FFF2-40B4-BE49-F238E27FC236}">
                <a16:creationId xmlns:a16="http://schemas.microsoft.com/office/drawing/2014/main" id="{81097347-090F-ACBF-56EF-172FAA24439B}"/>
              </a:ext>
            </a:extLst>
          </p:cNvPr>
          <p:cNvSpPr/>
          <p:nvPr/>
        </p:nvSpPr>
        <p:spPr>
          <a:xfrm>
            <a:off x="7233963" y="14433902"/>
            <a:ext cx="2762656" cy="1335236"/>
          </a:xfrm>
          <a:prstGeom prst="flowChartMagneticDisk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algn="ctr"/>
            <a:r>
              <a:rPr lang="en-US" sz="21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en-IN" sz="21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80" name="Straight Arrow Connector 1079">
            <a:extLst>
              <a:ext uri="{FF2B5EF4-FFF2-40B4-BE49-F238E27FC236}">
                <a16:creationId xmlns:a16="http://schemas.microsoft.com/office/drawing/2014/main" id="{D9A4913E-D828-2DF5-07CA-279AB4F68AFC}"/>
              </a:ext>
            </a:extLst>
          </p:cNvPr>
          <p:cNvCxnSpPr>
            <a:cxnSpLocks/>
            <a:stCxn id="21" idx="3"/>
            <a:endCxn id="32" idx="1"/>
          </p:cNvCxnSpPr>
          <p:nvPr/>
        </p:nvCxnSpPr>
        <p:spPr>
          <a:xfrm flipV="1">
            <a:off x="3029535" y="11582871"/>
            <a:ext cx="799763" cy="2825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4" name="Straight Arrow Connector 1083">
            <a:extLst>
              <a:ext uri="{FF2B5EF4-FFF2-40B4-BE49-F238E27FC236}">
                <a16:creationId xmlns:a16="http://schemas.microsoft.com/office/drawing/2014/main" id="{1434664A-D22E-5A38-3192-AE1474AD9C7A}"/>
              </a:ext>
            </a:extLst>
          </p:cNvPr>
          <p:cNvCxnSpPr>
            <a:cxnSpLocks/>
            <a:stCxn id="32" idx="3"/>
            <a:endCxn id="28" idx="1"/>
          </p:cNvCxnSpPr>
          <p:nvPr/>
        </p:nvCxnSpPr>
        <p:spPr>
          <a:xfrm flipV="1">
            <a:off x="6298178" y="11571027"/>
            <a:ext cx="1278501" cy="1184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0" name="Straight Arrow Connector 1089">
            <a:extLst>
              <a:ext uri="{FF2B5EF4-FFF2-40B4-BE49-F238E27FC236}">
                <a16:creationId xmlns:a16="http://schemas.microsoft.com/office/drawing/2014/main" id="{E4C2ADCD-4CE7-7C1E-8A78-34B2241EBE95}"/>
              </a:ext>
            </a:extLst>
          </p:cNvPr>
          <p:cNvCxnSpPr>
            <a:stCxn id="28" idx="3"/>
            <a:endCxn id="25" idx="1"/>
          </p:cNvCxnSpPr>
          <p:nvPr/>
        </p:nvCxnSpPr>
        <p:spPr>
          <a:xfrm flipV="1">
            <a:off x="10045559" y="11549006"/>
            <a:ext cx="891014" cy="2202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Straight Arrow Connector 1091">
            <a:extLst>
              <a:ext uri="{FF2B5EF4-FFF2-40B4-BE49-F238E27FC236}">
                <a16:creationId xmlns:a16="http://schemas.microsoft.com/office/drawing/2014/main" id="{D5EF6B8D-8B30-E998-B9D5-F6E80FCC9DEF}"/>
              </a:ext>
            </a:extLst>
          </p:cNvPr>
          <p:cNvCxnSpPr>
            <a:stCxn id="34" idx="2"/>
            <a:endCxn id="25" idx="0"/>
          </p:cNvCxnSpPr>
          <p:nvPr/>
        </p:nvCxnSpPr>
        <p:spPr>
          <a:xfrm>
            <a:off x="12171013" y="10819805"/>
            <a:ext cx="0" cy="29238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Straight Arrow Connector 1093">
            <a:extLst>
              <a:ext uri="{FF2B5EF4-FFF2-40B4-BE49-F238E27FC236}">
                <a16:creationId xmlns:a16="http://schemas.microsoft.com/office/drawing/2014/main" id="{D8A6605E-AB31-17ED-E7BE-5806F64600EA}"/>
              </a:ext>
            </a:extLst>
          </p:cNvPr>
          <p:cNvCxnSpPr>
            <a:stCxn id="25" idx="3"/>
            <a:endCxn id="1075" idx="1"/>
          </p:cNvCxnSpPr>
          <p:nvPr/>
        </p:nvCxnSpPr>
        <p:spPr>
          <a:xfrm>
            <a:off x="13405453" y="11549006"/>
            <a:ext cx="381940" cy="538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Connector: Elbow 1097">
            <a:extLst>
              <a:ext uri="{FF2B5EF4-FFF2-40B4-BE49-F238E27FC236}">
                <a16:creationId xmlns:a16="http://schemas.microsoft.com/office/drawing/2014/main" id="{76FBF219-99B6-2AB5-2A91-AA9CE5F10F24}"/>
              </a:ext>
            </a:extLst>
          </p:cNvPr>
          <p:cNvCxnSpPr>
            <a:stCxn id="1075" idx="2"/>
            <a:endCxn id="41" idx="3"/>
          </p:cNvCxnSpPr>
          <p:nvPr/>
        </p:nvCxnSpPr>
        <p:spPr>
          <a:xfrm rot="5400000">
            <a:off x="13233765" y="13104017"/>
            <a:ext cx="2900879" cy="675259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Connector: Elbow 1113">
            <a:extLst>
              <a:ext uri="{FF2B5EF4-FFF2-40B4-BE49-F238E27FC236}">
                <a16:creationId xmlns:a16="http://schemas.microsoft.com/office/drawing/2014/main" id="{979F394F-6D0C-267B-EC98-1FC592FBF91C}"/>
              </a:ext>
            </a:extLst>
          </p:cNvPr>
          <p:cNvCxnSpPr>
            <a:stCxn id="29" idx="3"/>
            <a:endCxn id="1077" idx="1"/>
          </p:cNvCxnSpPr>
          <p:nvPr/>
        </p:nvCxnSpPr>
        <p:spPr>
          <a:xfrm flipV="1">
            <a:off x="9406308" y="13047486"/>
            <a:ext cx="2463059" cy="393780"/>
          </a:xfrm>
          <a:prstGeom prst="bentConnector3">
            <a:avLst/>
          </a:prstGeom>
          <a:ln w="571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Connector: Elbow 1115">
            <a:extLst>
              <a:ext uri="{FF2B5EF4-FFF2-40B4-BE49-F238E27FC236}">
                <a16:creationId xmlns:a16="http://schemas.microsoft.com/office/drawing/2014/main" id="{B8E90A92-9CEC-FBC3-3E64-29ACA74C2DC9}"/>
              </a:ext>
            </a:extLst>
          </p:cNvPr>
          <p:cNvCxnSpPr>
            <a:stCxn id="29" idx="3"/>
            <a:endCxn id="37" idx="1"/>
          </p:cNvCxnSpPr>
          <p:nvPr/>
        </p:nvCxnSpPr>
        <p:spPr>
          <a:xfrm>
            <a:off x="9406308" y="13441266"/>
            <a:ext cx="2463059" cy="228294"/>
          </a:xfrm>
          <a:prstGeom prst="bentConnector3">
            <a:avLst/>
          </a:prstGeom>
          <a:ln w="571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Connector: Elbow 1117">
            <a:extLst>
              <a:ext uri="{FF2B5EF4-FFF2-40B4-BE49-F238E27FC236}">
                <a16:creationId xmlns:a16="http://schemas.microsoft.com/office/drawing/2014/main" id="{B1FDB26D-E313-07F6-8ADB-6794FCCEA64D}"/>
              </a:ext>
            </a:extLst>
          </p:cNvPr>
          <p:cNvCxnSpPr>
            <a:cxnSpLocks/>
            <a:stCxn id="29" idx="3"/>
            <a:endCxn id="40" idx="1"/>
          </p:cNvCxnSpPr>
          <p:nvPr/>
        </p:nvCxnSpPr>
        <p:spPr>
          <a:xfrm>
            <a:off x="9406308" y="13441266"/>
            <a:ext cx="2463059" cy="839557"/>
          </a:xfrm>
          <a:prstGeom prst="bentConnector3">
            <a:avLst/>
          </a:prstGeom>
          <a:ln w="571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Connector: Elbow 1119">
            <a:extLst>
              <a:ext uri="{FF2B5EF4-FFF2-40B4-BE49-F238E27FC236}">
                <a16:creationId xmlns:a16="http://schemas.microsoft.com/office/drawing/2014/main" id="{EF55656B-A4B0-D60C-C832-F9F73028A179}"/>
              </a:ext>
            </a:extLst>
          </p:cNvPr>
          <p:cNvCxnSpPr>
            <a:cxnSpLocks/>
            <a:stCxn id="29" idx="3"/>
            <a:endCxn id="41" idx="1"/>
          </p:cNvCxnSpPr>
          <p:nvPr/>
        </p:nvCxnSpPr>
        <p:spPr>
          <a:xfrm>
            <a:off x="9406308" y="13441266"/>
            <a:ext cx="2471386" cy="1450820"/>
          </a:xfrm>
          <a:prstGeom prst="bentConnector3">
            <a:avLst/>
          </a:prstGeom>
          <a:ln w="571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: Elbow 1129">
            <a:extLst>
              <a:ext uri="{FF2B5EF4-FFF2-40B4-BE49-F238E27FC236}">
                <a16:creationId xmlns:a16="http://schemas.microsoft.com/office/drawing/2014/main" id="{BE3929FF-0894-8759-E57F-62EFACCB5CD2}"/>
              </a:ext>
            </a:extLst>
          </p:cNvPr>
          <p:cNvCxnSpPr>
            <a:stCxn id="33" idx="2"/>
            <a:endCxn id="1078" idx="2"/>
          </p:cNvCxnSpPr>
          <p:nvPr/>
        </p:nvCxnSpPr>
        <p:spPr>
          <a:xfrm rot="16200000" flipH="1">
            <a:off x="4083269" y="11950825"/>
            <a:ext cx="862521" cy="5438868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2" name="Connector: Elbow 1131">
            <a:extLst>
              <a:ext uri="{FF2B5EF4-FFF2-40B4-BE49-F238E27FC236}">
                <a16:creationId xmlns:a16="http://schemas.microsoft.com/office/drawing/2014/main" id="{49F99059-019E-3387-0C2A-9D313DEC57A6}"/>
              </a:ext>
            </a:extLst>
          </p:cNvPr>
          <p:cNvCxnSpPr>
            <a:stCxn id="30" idx="2"/>
            <a:endCxn id="1078" idx="1"/>
          </p:cNvCxnSpPr>
          <p:nvPr/>
        </p:nvCxnSpPr>
        <p:spPr>
          <a:xfrm rot="16200000" flipH="1">
            <a:off x="6565234" y="12383844"/>
            <a:ext cx="548561" cy="3551553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4" name="Connector: Elbow 1133">
            <a:extLst>
              <a:ext uri="{FF2B5EF4-FFF2-40B4-BE49-F238E27FC236}">
                <a16:creationId xmlns:a16="http://schemas.microsoft.com/office/drawing/2014/main" id="{F0FC6110-D395-6683-DF69-8BDA9C1820F6}"/>
              </a:ext>
            </a:extLst>
          </p:cNvPr>
          <p:cNvCxnSpPr>
            <a:stCxn id="30" idx="0"/>
            <a:endCxn id="21" idx="2"/>
          </p:cNvCxnSpPr>
          <p:nvPr/>
        </p:nvCxnSpPr>
        <p:spPr>
          <a:xfrm rot="16200000" flipV="1">
            <a:off x="2947533" y="10895501"/>
            <a:ext cx="963768" cy="3268643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Straight Arrow Connector 1135">
            <a:extLst>
              <a:ext uri="{FF2B5EF4-FFF2-40B4-BE49-F238E27FC236}">
                <a16:creationId xmlns:a16="http://schemas.microsoft.com/office/drawing/2014/main" id="{76730286-71A7-37D2-E447-20E3AFEDCE25}"/>
              </a:ext>
            </a:extLst>
          </p:cNvPr>
          <p:cNvCxnSpPr>
            <a:cxnSpLocks/>
            <a:stCxn id="33" idx="0"/>
            <a:endCxn id="21" idx="2"/>
          </p:cNvCxnSpPr>
          <p:nvPr/>
        </p:nvCxnSpPr>
        <p:spPr>
          <a:xfrm flipV="1">
            <a:off x="1795095" y="12047939"/>
            <a:ext cx="0" cy="131742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Connector: Elbow 1137">
            <a:extLst>
              <a:ext uri="{FF2B5EF4-FFF2-40B4-BE49-F238E27FC236}">
                <a16:creationId xmlns:a16="http://schemas.microsoft.com/office/drawing/2014/main" id="{1290CC5C-49FF-0038-E9CC-A544B1B06E18}"/>
              </a:ext>
            </a:extLst>
          </p:cNvPr>
          <p:cNvCxnSpPr>
            <a:cxnSpLocks/>
            <a:stCxn id="28" idx="2"/>
            <a:endCxn id="30" idx="0"/>
          </p:cNvCxnSpPr>
          <p:nvPr/>
        </p:nvCxnSpPr>
        <p:spPr>
          <a:xfrm rot="5400000">
            <a:off x="6435498" y="10636085"/>
            <a:ext cx="1003863" cy="3747381"/>
          </a:xfrm>
          <a:prstGeom prst="bentConnector3">
            <a:avLst>
              <a:gd name="adj1" fmla="val 51938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0" name="Straight Arrow Connector 1139">
            <a:extLst>
              <a:ext uri="{FF2B5EF4-FFF2-40B4-BE49-F238E27FC236}">
                <a16:creationId xmlns:a16="http://schemas.microsoft.com/office/drawing/2014/main" id="{C14B07F4-6DF2-AB0D-F322-D7EF59251E1F}"/>
              </a:ext>
            </a:extLst>
          </p:cNvPr>
          <p:cNvCxnSpPr>
            <a:stCxn id="32" idx="2"/>
            <a:endCxn id="30" idx="0"/>
          </p:cNvCxnSpPr>
          <p:nvPr/>
        </p:nvCxnSpPr>
        <p:spPr>
          <a:xfrm>
            <a:off x="5063738" y="12132097"/>
            <a:ext cx="0" cy="8796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0" name="Straight Arrow Connector 1149">
            <a:extLst>
              <a:ext uri="{FF2B5EF4-FFF2-40B4-BE49-F238E27FC236}">
                <a16:creationId xmlns:a16="http://schemas.microsoft.com/office/drawing/2014/main" id="{E80B9A67-8755-1349-E78F-13F9D71E6B08}"/>
              </a:ext>
            </a:extLst>
          </p:cNvPr>
          <p:cNvCxnSpPr>
            <a:cxnSpLocks/>
            <a:stCxn id="30" idx="3"/>
            <a:endCxn id="29" idx="1"/>
          </p:cNvCxnSpPr>
          <p:nvPr/>
        </p:nvCxnSpPr>
        <p:spPr>
          <a:xfrm flipV="1">
            <a:off x="6298178" y="13441266"/>
            <a:ext cx="639250" cy="72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6" name="Connector: Elbow 1155">
            <a:extLst>
              <a:ext uri="{FF2B5EF4-FFF2-40B4-BE49-F238E27FC236}">
                <a16:creationId xmlns:a16="http://schemas.microsoft.com/office/drawing/2014/main" id="{965BB57F-2AB4-72FB-35A3-4CAE57121AA1}"/>
              </a:ext>
            </a:extLst>
          </p:cNvPr>
          <p:cNvCxnSpPr>
            <a:cxnSpLocks/>
            <a:stCxn id="1075" idx="2"/>
            <a:endCxn id="1077" idx="3"/>
          </p:cNvCxnSpPr>
          <p:nvPr/>
        </p:nvCxnSpPr>
        <p:spPr>
          <a:xfrm rot="5400000">
            <a:off x="14151901" y="12177553"/>
            <a:ext cx="1056279" cy="683586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8" name="Connector: Elbow 1157">
            <a:extLst>
              <a:ext uri="{FF2B5EF4-FFF2-40B4-BE49-F238E27FC236}">
                <a16:creationId xmlns:a16="http://schemas.microsoft.com/office/drawing/2014/main" id="{AA2748B0-EC13-DAEC-33C5-44E1F0D004F5}"/>
              </a:ext>
            </a:extLst>
          </p:cNvPr>
          <p:cNvCxnSpPr>
            <a:cxnSpLocks/>
            <a:stCxn id="1075" idx="2"/>
            <a:endCxn id="37" idx="3"/>
          </p:cNvCxnSpPr>
          <p:nvPr/>
        </p:nvCxnSpPr>
        <p:spPr>
          <a:xfrm rot="5400000">
            <a:off x="13840864" y="12488590"/>
            <a:ext cx="1678353" cy="683586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3" name="Connector: Elbow 1162">
            <a:extLst>
              <a:ext uri="{FF2B5EF4-FFF2-40B4-BE49-F238E27FC236}">
                <a16:creationId xmlns:a16="http://schemas.microsoft.com/office/drawing/2014/main" id="{2985018A-05A3-DD44-F570-D97646AA89A5}"/>
              </a:ext>
            </a:extLst>
          </p:cNvPr>
          <p:cNvCxnSpPr>
            <a:stCxn id="1075" idx="2"/>
            <a:endCxn id="40" idx="3"/>
          </p:cNvCxnSpPr>
          <p:nvPr/>
        </p:nvCxnSpPr>
        <p:spPr>
          <a:xfrm rot="5400000">
            <a:off x="13535232" y="12794222"/>
            <a:ext cx="2289616" cy="683586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8" name="Connector: Elbow 1167">
            <a:extLst>
              <a:ext uri="{FF2B5EF4-FFF2-40B4-BE49-F238E27FC236}">
                <a16:creationId xmlns:a16="http://schemas.microsoft.com/office/drawing/2014/main" id="{0A620287-52A8-6903-3F09-67BE84A499B1}"/>
              </a:ext>
            </a:extLst>
          </p:cNvPr>
          <p:cNvCxnSpPr>
            <a:cxnSpLocks/>
            <a:stCxn id="28" idx="3"/>
            <a:endCxn id="1078" idx="4"/>
          </p:cNvCxnSpPr>
          <p:nvPr/>
        </p:nvCxnSpPr>
        <p:spPr>
          <a:xfrm flipH="1">
            <a:off x="9996619" y="11571027"/>
            <a:ext cx="48940" cy="3530493"/>
          </a:xfrm>
          <a:prstGeom prst="bentConnector3">
            <a:avLst>
              <a:gd name="adj1" fmla="val -467103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1" name="TextBox 1170">
            <a:extLst>
              <a:ext uri="{FF2B5EF4-FFF2-40B4-BE49-F238E27FC236}">
                <a16:creationId xmlns:a16="http://schemas.microsoft.com/office/drawing/2014/main" id="{048F5AC0-7DD9-E857-A394-AB9E151C8AFD}"/>
              </a:ext>
            </a:extLst>
          </p:cNvPr>
          <p:cNvSpPr txBox="1"/>
          <p:nvPr/>
        </p:nvSpPr>
        <p:spPr>
          <a:xfrm>
            <a:off x="482835" y="10699809"/>
            <a:ext cx="27278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User(Citizen / Admin)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2" name="TextBox 1171">
            <a:extLst>
              <a:ext uri="{FF2B5EF4-FFF2-40B4-BE49-F238E27FC236}">
                <a16:creationId xmlns:a16="http://schemas.microsoft.com/office/drawing/2014/main" id="{9301076B-297E-F10D-A18F-8EBB81610A69}"/>
              </a:ext>
            </a:extLst>
          </p:cNvPr>
          <p:cNvSpPr txBox="1"/>
          <p:nvPr/>
        </p:nvSpPr>
        <p:spPr>
          <a:xfrm>
            <a:off x="159342" y="12529692"/>
            <a:ext cx="17685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Role &amp;</a:t>
            </a:r>
          </a:p>
          <a:p>
            <a:pPr lvl="0">
              <a:defRPr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Permission</a:t>
            </a:r>
            <a:endParaRPr lang="en-IN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3" name="TextBox 1172">
            <a:extLst>
              <a:ext uri="{FF2B5EF4-FFF2-40B4-BE49-F238E27FC236}">
                <a16:creationId xmlns:a16="http://schemas.microsoft.com/office/drawing/2014/main" id="{83B1CDCA-BD88-0211-3D87-8009A9C9279A}"/>
              </a:ext>
            </a:extLst>
          </p:cNvPr>
          <p:cNvSpPr txBox="1"/>
          <p:nvPr/>
        </p:nvSpPr>
        <p:spPr>
          <a:xfrm>
            <a:off x="4684899" y="15207786"/>
            <a:ext cx="26846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 Data Storage</a:t>
            </a:r>
            <a:endParaRPr lang="en-IN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81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767</TotalTime>
  <Words>584</Words>
  <Application>Microsoft Office PowerPoint</Application>
  <PresentationFormat>Custom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Moorthy</dc:creator>
  <cp:lastModifiedBy>Sannapureddy, Vishnu Teja (Contractor)</cp:lastModifiedBy>
  <cp:revision>45</cp:revision>
  <dcterms:created xsi:type="dcterms:W3CDTF">2023-04-19T08:35:46Z</dcterms:created>
  <dcterms:modified xsi:type="dcterms:W3CDTF">2026-05-15T12:17:17Z</dcterms:modified>
</cp:coreProperties>
</file>